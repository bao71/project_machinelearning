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Tahoma Bold" charset="1" panose="020B0804030504040204"/>
      <p:regular r:id="rId24"/>
    </p:embeddedFont>
    <p:embeddedFont>
      <p:font typeface="Tahoma" charset="1" panose="020B0604030504040204"/>
      <p:regular r:id="rId25"/>
    </p:embeddedFont>
    <p:embeddedFont>
      <p:font typeface="Noto Sans Bold" charset="1" panose="020B080204050402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notesMasters/notesMaster1.xml" Type="http://schemas.openxmlformats.org/officeDocument/2006/relationships/notesMaster"/><Relationship Id="rId27" Target="theme/theme2.xml" Type="http://schemas.openxmlformats.org/officeDocument/2006/relationships/theme"/><Relationship Id="rId28" Target="notesSlides/notesSlide1.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Câu hỏi có thể là: Dữ liệu giả có "lừa dối" mô hình không?</a:t>
            </a:r>
          </a:p>
          <a:p>
            <a:r>
              <a:rPr lang="en-US"/>
              <a:t/>
            </a:r>
          </a:p>
          <a:p>
            <a:r>
              <a:rPr lang="en-US"/>
              <a:t>Không, vì mẫu tổng hợp chỉ tạo ra một sự kết hợp hợp lý giữa các mẫu có sẵn, không phải là những giá trị ngẫu nhiên hoặc sai lệch. Mục tiêu là làm cho mô hình có thể học được các đặc điểm của lớp thiểu số mà không làm tăng khả năng overfitting hay bias.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64448" y="2677985"/>
            <a:ext cx="15159105" cy="1962146"/>
          </a:xfrm>
          <a:prstGeom prst="rect">
            <a:avLst/>
          </a:prstGeom>
        </p:spPr>
        <p:txBody>
          <a:bodyPr anchor="t" rtlCol="false" tIns="0" lIns="0" bIns="0" rIns="0">
            <a:spAutoFit/>
          </a:bodyPr>
          <a:lstStyle/>
          <a:p>
            <a:pPr algn="ctr">
              <a:lnSpc>
                <a:spcPts val="7649"/>
              </a:lnSpc>
              <a:spcBef>
                <a:spcPct val="0"/>
              </a:spcBef>
            </a:pPr>
            <a:r>
              <a:rPr lang="en-US" b="true" sz="7499">
                <a:solidFill>
                  <a:srgbClr val="000000"/>
                </a:solidFill>
                <a:latin typeface="Tahoma Bold"/>
                <a:ea typeface="Tahoma Bold"/>
                <a:cs typeface="Tahoma Bold"/>
                <a:sym typeface="Tahoma Bold"/>
              </a:rPr>
              <a:t>Dự</a:t>
            </a:r>
            <a:r>
              <a:rPr lang="en-US" b="true" sz="7499">
                <a:solidFill>
                  <a:srgbClr val="000000"/>
                </a:solidFill>
                <a:latin typeface="Tahoma Bold"/>
                <a:ea typeface="Tahoma Bold"/>
                <a:cs typeface="Tahoma Bold"/>
                <a:sym typeface="Tahoma Bold"/>
              </a:rPr>
              <a:t> đoán tình trạng sức khỏe toàn diện (SVM, RF) </a:t>
            </a:r>
          </a:p>
        </p:txBody>
      </p:sp>
      <p:sp>
        <p:nvSpPr>
          <p:cNvPr name="TextBox 3" id="3"/>
          <p:cNvSpPr txBox="true"/>
          <p:nvPr/>
        </p:nvSpPr>
        <p:spPr>
          <a:xfrm rot="0">
            <a:off x="5644336" y="5866230"/>
            <a:ext cx="6999327" cy="461009"/>
          </a:xfrm>
          <a:prstGeom prst="rect">
            <a:avLst/>
          </a:prstGeom>
        </p:spPr>
        <p:txBody>
          <a:bodyPr anchor="t" rtlCol="false" tIns="0" lIns="0" bIns="0" rIns="0">
            <a:spAutoFit/>
          </a:bodyPr>
          <a:lstStyle/>
          <a:p>
            <a:pPr algn="ctr">
              <a:lnSpc>
                <a:spcPts val="3569"/>
              </a:lnSpc>
              <a:spcBef>
                <a:spcPct val="0"/>
              </a:spcBef>
            </a:pPr>
            <a:r>
              <a:rPr lang="en-US" sz="3499">
                <a:solidFill>
                  <a:srgbClr val="000000"/>
                </a:solidFill>
                <a:latin typeface="Tahoma"/>
                <a:ea typeface="Tahoma"/>
                <a:cs typeface="Tahoma"/>
                <a:sym typeface="Tahoma"/>
              </a:rPr>
              <a:t>Người trình bày: Nguyễn Quốc Bảo </a:t>
            </a:r>
          </a:p>
        </p:txBody>
      </p:sp>
      <p:sp>
        <p:nvSpPr>
          <p:cNvPr name="TextBox 4" id="4"/>
          <p:cNvSpPr txBox="true"/>
          <p:nvPr/>
        </p:nvSpPr>
        <p:spPr>
          <a:xfrm rot="0">
            <a:off x="4394418" y="6828101"/>
            <a:ext cx="9499164" cy="461009"/>
          </a:xfrm>
          <a:prstGeom prst="rect">
            <a:avLst/>
          </a:prstGeom>
        </p:spPr>
        <p:txBody>
          <a:bodyPr anchor="t" rtlCol="false" tIns="0" lIns="0" bIns="0" rIns="0">
            <a:spAutoFit/>
          </a:bodyPr>
          <a:lstStyle/>
          <a:p>
            <a:pPr algn="ctr">
              <a:lnSpc>
                <a:spcPts val="3569"/>
              </a:lnSpc>
              <a:spcBef>
                <a:spcPct val="0"/>
              </a:spcBef>
            </a:pPr>
            <a:r>
              <a:rPr lang="en-US" sz="3499">
                <a:solidFill>
                  <a:srgbClr val="000000"/>
                </a:solidFill>
                <a:latin typeface="Tahoma"/>
                <a:ea typeface="Tahoma"/>
                <a:cs typeface="Tahoma"/>
                <a:sym typeface="Tahoma"/>
              </a:rPr>
              <a:t>Giảng viên hướng dẫn: PSG.TS Nguyễn Văn Hậu</a:t>
            </a:r>
          </a:p>
        </p:txBody>
      </p:sp>
      <p:sp>
        <p:nvSpPr>
          <p:cNvPr name="TextBox 5" id="5"/>
          <p:cNvSpPr txBox="true"/>
          <p:nvPr/>
        </p:nvSpPr>
        <p:spPr>
          <a:xfrm rot="0">
            <a:off x="13659421" y="9100121"/>
            <a:ext cx="4036933" cy="354457"/>
          </a:xfrm>
          <a:prstGeom prst="rect">
            <a:avLst/>
          </a:prstGeom>
        </p:spPr>
        <p:txBody>
          <a:bodyPr anchor="t" rtlCol="false" tIns="0" lIns="0" bIns="0" rIns="0">
            <a:spAutoFit/>
          </a:bodyPr>
          <a:lstStyle/>
          <a:p>
            <a:pPr algn="ctr">
              <a:lnSpc>
                <a:spcPts val="2640"/>
              </a:lnSpc>
              <a:spcBef>
                <a:spcPct val="0"/>
              </a:spcBef>
            </a:pPr>
            <a:r>
              <a:rPr lang="en-US" sz="2588">
                <a:solidFill>
                  <a:srgbClr val="000000"/>
                </a:solidFill>
                <a:latin typeface="Tahoma"/>
                <a:ea typeface="Tahoma"/>
                <a:cs typeface="Tahoma"/>
                <a:sym typeface="Tahoma"/>
              </a:rPr>
              <a:t>Ngày trình bày: 15/12/2025</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767788"/>
            <a:chOff x="0" y="0"/>
            <a:chExt cx="4816593" cy="465590"/>
          </a:xfrm>
        </p:grpSpPr>
        <p:sp>
          <p:nvSpPr>
            <p:cNvPr name="Freeform 3" id="3"/>
            <p:cNvSpPr/>
            <p:nvPr/>
          </p:nvSpPr>
          <p:spPr>
            <a:xfrm flipH="false" flipV="false" rot="0">
              <a:off x="0" y="0"/>
              <a:ext cx="4816592" cy="465590"/>
            </a:xfrm>
            <a:custGeom>
              <a:avLst/>
              <a:gdLst/>
              <a:ahLst/>
              <a:cxnLst/>
              <a:rect r="r" b="b" t="t" l="l"/>
              <a:pathLst>
                <a:path h="465590" w="4816592">
                  <a:moveTo>
                    <a:pt x="0" y="0"/>
                  </a:moveTo>
                  <a:lnTo>
                    <a:pt x="4816592" y="0"/>
                  </a:lnTo>
                  <a:lnTo>
                    <a:pt x="4816592" y="465590"/>
                  </a:lnTo>
                  <a:lnTo>
                    <a:pt x="0" y="465590"/>
                  </a:lnTo>
                  <a:close/>
                </a:path>
              </a:pathLst>
            </a:custGeom>
            <a:solidFill>
              <a:srgbClr val="4AA0DE"/>
            </a:solidFill>
          </p:spPr>
        </p:sp>
        <p:sp>
          <p:nvSpPr>
            <p:cNvPr name="TextBox 4" id="4"/>
            <p:cNvSpPr txBox="true"/>
            <p:nvPr/>
          </p:nvSpPr>
          <p:spPr>
            <a:xfrm>
              <a:off x="0" y="-85725"/>
              <a:ext cx="4816593" cy="551315"/>
            </a:xfrm>
            <a:prstGeom prst="rect">
              <a:avLst/>
            </a:prstGeom>
          </p:spPr>
          <p:txBody>
            <a:bodyPr anchor="ctr" rtlCol="false" tIns="50800" lIns="50800" bIns="50800" rIns="50800"/>
            <a:lstStyle/>
            <a:p>
              <a:pPr algn="ctr">
                <a:lnSpc>
                  <a:spcPts val="6859"/>
                </a:lnSpc>
                <a:spcBef>
                  <a:spcPct val="0"/>
                </a:spcBef>
              </a:pPr>
              <a:r>
                <a:rPr lang="en-US" b="true" sz="4899">
                  <a:solidFill>
                    <a:srgbClr val="FFFFFF"/>
                  </a:solidFill>
                  <a:latin typeface="Tahoma Bold"/>
                  <a:ea typeface="Tahoma Bold"/>
                  <a:cs typeface="Tahoma Bold"/>
                  <a:sym typeface="Tahoma Bold"/>
                </a:rPr>
                <a:t>Contents</a:t>
              </a:r>
            </a:p>
          </p:txBody>
        </p:sp>
      </p:grpSp>
      <p:sp>
        <p:nvSpPr>
          <p:cNvPr name="TextBox 5" id="5"/>
          <p:cNvSpPr txBox="true"/>
          <p:nvPr/>
        </p:nvSpPr>
        <p:spPr>
          <a:xfrm rot="0">
            <a:off x="5873450" y="2886708"/>
            <a:ext cx="7180447" cy="4417312"/>
          </a:xfrm>
          <a:prstGeom prst="rect">
            <a:avLst/>
          </a:prstGeom>
        </p:spPr>
        <p:txBody>
          <a:bodyPr anchor="t" rtlCol="false" tIns="0" lIns="0" bIns="0" rIns="0">
            <a:spAutoFit/>
          </a:bodyPr>
          <a:lstStyle/>
          <a:p>
            <a:pPr algn="l">
              <a:lnSpc>
                <a:spcPts val="4997"/>
              </a:lnSpc>
            </a:pPr>
            <a:r>
              <a:rPr lang="en-US" sz="4899">
                <a:solidFill>
                  <a:srgbClr val="000000"/>
                </a:solidFill>
                <a:latin typeface="Tahoma"/>
                <a:ea typeface="Tahoma"/>
                <a:cs typeface="Tahoma"/>
                <a:sym typeface="Tahoma"/>
              </a:rPr>
              <a:t>I. Tổng quan bài toán</a:t>
            </a:r>
          </a:p>
          <a:p>
            <a:pPr algn="l">
              <a:lnSpc>
                <a:spcPts val="4997"/>
              </a:lnSpc>
            </a:pPr>
          </a:p>
          <a:p>
            <a:pPr algn="l">
              <a:lnSpc>
                <a:spcPts val="4997"/>
              </a:lnSpc>
            </a:pPr>
            <a:r>
              <a:rPr lang="en-US" sz="4899">
                <a:solidFill>
                  <a:srgbClr val="000000"/>
                </a:solidFill>
                <a:latin typeface="Tahoma"/>
                <a:ea typeface="Tahoma"/>
                <a:cs typeface="Tahoma"/>
                <a:sym typeface="Tahoma"/>
              </a:rPr>
              <a:t>II. Mô hình học máy</a:t>
            </a:r>
          </a:p>
          <a:p>
            <a:pPr algn="l">
              <a:lnSpc>
                <a:spcPts val="4997"/>
              </a:lnSpc>
            </a:pPr>
          </a:p>
          <a:p>
            <a:pPr algn="l">
              <a:lnSpc>
                <a:spcPts val="4997"/>
              </a:lnSpc>
            </a:pPr>
            <a:r>
              <a:rPr lang="en-US" sz="4899">
                <a:solidFill>
                  <a:srgbClr val="000000"/>
                </a:solidFill>
                <a:latin typeface="Tahoma"/>
                <a:ea typeface="Tahoma"/>
                <a:cs typeface="Tahoma"/>
                <a:sym typeface="Tahoma"/>
              </a:rPr>
              <a:t>III. Cài đặt mô hình</a:t>
            </a:r>
          </a:p>
          <a:p>
            <a:pPr algn="l">
              <a:lnSpc>
                <a:spcPts val="4997"/>
              </a:lnSpc>
            </a:pPr>
          </a:p>
          <a:p>
            <a:pPr algn="l">
              <a:lnSpc>
                <a:spcPts val="4997"/>
              </a:lnSpc>
            </a:pPr>
            <a:r>
              <a:rPr lang="en-US" sz="4899">
                <a:solidFill>
                  <a:srgbClr val="000000"/>
                </a:solidFill>
                <a:latin typeface="Tahoma"/>
                <a:ea typeface="Tahoma"/>
                <a:cs typeface="Tahoma"/>
                <a:sym typeface="Tahoma"/>
              </a:rPr>
              <a:t>IV. Demo chương trình</a:t>
            </a:r>
          </a:p>
        </p:txBody>
      </p:sp>
      <p:sp>
        <p:nvSpPr>
          <p:cNvPr name="TextBox 6" id="6"/>
          <p:cNvSpPr txBox="true"/>
          <p:nvPr/>
        </p:nvSpPr>
        <p:spPr>
          <a:xfrm rot="0">
            <a:off x="17249775" y="9558894"/>
            <a:ext cx="641271" cy="333375"/>
          </a:xfrm>
          <a:prstGeom prst="rect">
            <a:avLst/>
          </a:prstGeom>
        </p:spPr>
        <p:txBody>
          <a:bodyPr anchor="t" rtlCol="false" tIns="0" lIns="0" bIns="0" rIns="0">
            <a:spAutoFit/>
          </a:bodyPr>
          <a:lstStyle/>
          <a:p>
            <a:pPr algn="ctr">
              <a:lnSpc>
                <a:spcPts val="2549"/>
              </a:lnSpc>
              <a:spcBef>
                <a:spcPct val="0"/>
              </a:spcBef>
            </a:pPr>
            <a:r>
              <a:rPr lang="en-US" sz="2499">
                <a:solidFill>
                  <a:srgbClr val="000000"/>
                </a:solidFill>
                <a:latin typeface="Tahoma"/>
                <a:ea typeface="Tahoma"/>
                <a:cs typeface="Tahoma"/>
                <a:sym typeface="Tahoma"/>
              </a:rPr>
              <a:t>2</a:t>
            </a:r>
            <a:r>
              <a:rPr lang="en-US" sz="2499">
                <a:solidFill>
                  <a:srgbClr val="000000"/>
                </a:solidFill>
                <a:latin typeface="Tahoma"/>
                <a:ea typeface="Tahoma"/>
                <a:cs typeface="Tahoma"/>
                <a:sym typeface="Tahoma"/>
              </a:rPr>
              <a:t>/18</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767788"/>
            <a:chOff x="0" y="0"/>
            <a:chExt cx="4816593" cy="465590"/>
          </a:xfrm>
        </p:grpSpPr>
        <p:sp>
          <p:nvSpPr>
            <p:cNvPr name="Freeform 3" id="3"/>
            <p:cNvSpPr/>
            <p:nvPr/>
          </p:nvSpPr>
          <p:spPr>
            <a:xfrm flipH="false" flipV="false" rot="0">
              <a:off x="0" y="0"/>
              <a:ext cx="4816592" cy="465590"/>
            </a:xfrm>
            <a:custGeom>
              <a:avLst/>
              <a:gdLst/>
              <a:ahLst/>
              <a:cxnLst/>
              <a:rect r="r" b="b" t="t" l="l"/>
              <a:pathLst>
                <a:path h="465590" w="4816592">
                  <a:moveTo>
                    <a:pt x="0" y="0"/>
                  </a:moveTo>
                  <a:lnTo>
                    <a:pt x="4816592" y="0"/>
                  </a:lnTo>
                  <a:lnTo>
                    <a:pt x="4816592" y="465590"/>
                  </a:lnTo>
                  <a:lnTo>
                    <a:pt x="0" y="465590"/>
                  </a:lnTo>
                  <a:close/>
                </a:path>
              </a:pathLst>
            </a:custGeom>
            <a:solidFill>
              <a:srgbClr val="4AA0DE"/>
            </a:solidFill>
          </p:spPr>
        </p:sp>
        <p:sp>
          <p:nvSpPr>
            <p:cNvPr name="TextBox 4" id="4"/>
            <p:cNvSpPr txBox="true"/>
            <p:nvPr/>
          </p:nvSpPr>
          <p:spPr>
            <a:xfrm>
              <a:off x="0" y="-85725"/>
              <a:ext cx="4816593" cy="551315"/>
            </a:xfrm>
            <a:prstGeom prst="rect">
              <a:avLst/>
            </a:prstGeom>
          </p:spPr>
          <p:txBody>
            <a:bodyPr anchor="ctr" rtlCol="false" tIns="50800" lIns="50800" bIns="50800" rIns="50800"/>
            <a:lstStyle/>
            <a:p>
              <a:pPr algn="ctr">
                <a:lnSpc>
                  <a:spcPts val="6859"/>
                </a:lnSpc>
                <a:spcBef>
                  <a:spcPct val="0"/>
                </a:spcBef>
              </a:pPr>
              <a:r>
                <a:rPr lang="en-US" b="true" sz="4899">
                  <a:solidFill>
                    <a:srgbClr val="FFFFFF"/>
                  </a:solidFill>
                  <a:latin typeface="Tahoma Bold"/>
                  <a:ea typeface="Tahoma Bold"/>
                  <a:cs typeface="Tahoma Bold"/>
                  <a:sym typeface="Tahoma Bold"/>
                </a:rPr>
                <a:t>I. Tổng quan bài toán</a:t>
              </a:r>
            </a:p>
          </p:txBody>
        </p:sp>
      </p:grpSp>
      <p:sp>
        <p:nvSpPr>
          <p:cNvPr name="Freeform 5" id="5"/>
          <p:cNvSpPr/>
          <p:nvPr/>
        </p:nvSpPr>
        <p:spPr>
          <a:xfrm flipH="false" flipV="false" rot="0">
            <a:off x="9329004" y="2454635"/>
            <a:ext cx="8553815" cy="4579309"/>
          </a:xfrm>
          <a:custGeom>
            <a:avLst/>
            <a:gdLst/>
            <a:ahLst/>
            <a:cxnLst/>
            <a:rect r="r" b="b" t="t" l="l"/>
            <a:pathLst>
              <a:path h="4579309" w="8553815">
                <a:moveTo>
                  <a:pt x="0" y="0"/>
                </a:moveTo>
                <a:lnTo>
                  <a:pt x="8553815" y="0"/>
                </a:lnTo>
                <a:lnTo>
                  <a:pt x="8553815" y="4579309"/>
                </a:lnTo>
                <a:lnTo>
                  <a:pt x="0" y="4579309"/>
                </a:lnTo>
                <a:lnTo>
                  <a:pt x="0" y="0"/>
                </a:lnTo>
                <a:close/>
              </a:path>
            </a:pathLst>
          </a:custGeom>
          <a:blipFill>
            <a:blip r:embed="rId2"/>
            <a:stretch>
              <a:fillRect l="0" t="0" r="-772" b="0"/>
            </a:stretch>
          </a:blipFill>
        </p:spPr>
      </p:sp>
      <p:sp>
        <p:nvSpPr>
          <p:cNvPr name="TextBox 6" id="6"/>
          <p:cNvSpPr txBox="true"/>
          <p:nvPr/>
        </p:nvSpPr>
        <p:spPr>
          <a:xfrm rot="0">
            <a:off x="0" y="2397485"/>
            <a:ext cx="8968844" cy="4861560"/>
          </a:xfrm>
          <a:prstGeom prst="rect">
            <a:avLst/>
          </a:prstGeom>
        </p:spPr>
        <p:txBody>
          <a:bodyPr anchor="t" rtlCol="false" tIns="0" lIns="0" bIns="0" rIns="0">
            <a:spAutoFit/>
          </a:bodyPr>
          <a:lstStyle/>
          <a:p>
            <a:pPr algn="l" marL="647703" indent="-323852" lvl="1">
              <a:lnSpc>
                <a:spcPts val="4260"/>
              </a:lnSpc>
              <a:buFont typeface="Arial"/>
              <a:buChar char="•"/>
            </a:pPr>
            <a:r>
              <a:rPr lang="en-US" sz="3000">
                <a:solidFill>
                  <a:srgbClr val="000000"/>
                </a:solidFill>
                <a:latin typeface="Tahoma"/>
                <a:ea typeface="Tahoma"/>
                <a:cs typeface="Tahoma"/>
                <a:sym typeface="Tahoma"/>
              </a:rPr>
              <a:t>Trong lĩnh vực Y tế dự phòng, việc dự đoán và can thiệp lối sống sớm sẽ tiết kiệm hơn so với việc chữa trị các bệnh mãn tính đã phát triển</a:t>
            </a:r>
          </a:p>
          <a:p>
            <a:pPr algn="l">
              <a:lnSpc>
                <a:spcPts val="4260"/>
              </a:lnSpc>
            </a:pPr>
          </a:p>
          <a:p>
            <a:pPr algn="l" marL="647703" indent="-323852" lvl="1">
              <a:lnSpc>
                <a:spcPts val="4380"/>
              </a:lnSpc>
              <a:buFont typeface="Arial"/>
              <a:buChar char="•"/>
            </a:pPr>
            <a:r>
              <a:rPr lang="en-US" sz="3000">
                <a:solidFill>
                  <a:srgbClr val="000000"/>
                </a:solidFill>
                <a:latin typeface="Tahoma"/>
                <a:ea typeface="Tahoma"/>
                <a:cs typeface="Tahoma"/>
                <a:sym typeface="Tahoma"/>
              </a:rPr>
              <a:t>Bài toán Dự đoán Tình trạng Sức khỏe Toàn diện là một bài toán Multi-class Classification, nhằm mục đích dự đoán xem tình trạng sức khỏe của một cá nhân thuộc phân loại Tốt (Good), Trung bình (Average) hay Kém (Poor)</a:t>
            </a:r>
          </a:p>
        </p:txBody>
      </p:sp>
      <p:sp>
        <p:nvSpPr>
          <p:cNvPr name="TextBox 7" id="7"/>
          <p:cNvSpPr txBox="true"/>
          <p:nvPr/>
        </p:nvSpPr>
        <p:spPr>
          <a:xfrm rot="0">
            <a:off x="17259300" y="9558894"/>
            <a:ext cx="641271" cy="333375"/>
          </a:xfrm>
          <a:prstGeom prst="rect">
            <a:avLst/>
          </a:prstGeom>
        </p:spPr>
        <p:txBody>
          <a:bodyPr anchor="t" rtlCol="false" tIns="0" lIns="0" bIns="0" rIns="0">
            <a:spAutoFit/>
          </a:bodyPr>
          <a:lstStyle/>
          <a:p>
            <a:pPr algn="ctr">
              <a:lnSpc>
                <a:spcPts val="2549"/>
              </a:lnSpc>
              <a:spcBef>
                <a:spcPct val="0"/>
              </a:spcBef>
            </a:pPr>
            <a:r>
              <a:rPr lang="en-US" sz="2499">
                <a:solidFill>
                  <a:srgbClr val="000000"/>
                </a:solidFill>
                <a:latin typeface="Tahoma"/>
                <a:ea typeface="Tahoma"/>
                <a:cs typeface="Tahoma"/>
                <a:sym typeface="Tahoma"/>
              </a:rPr>
              <a:t>3</a:t>
            </a:r>
            <a:r>
              <a:rPr lang="en-US" sz="2499">
                <a:solidFill>
                  <a:srgbClr val="000000"/>
                </a:solidFill>
                <a:latin typeface="Tahoma"/>
                <a:ea typeface="Tahoma"/>
                <a:cs typeface="Tahoma"/>
                <a:sym typeface="Tahoma"/>
              </a:rPr>
              <a:t>/18</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767788"/>
            <a:chOff x="0" y="0"/>
            <a:chExt cx="4816593" cy="465590"/>
          </a:xfrm>
        </p:grpSpPr>
        <p:sp>
          <p:nvSpPr>
            <p:cNvPr name="Freeform 3" id="3"/>
            <p:cNvSpPr/>
            <p:nvPr/>
          </p:nvSpPr>
          <p:spPr>
            <a:xfrm flipH="false" flipV="false" rot="0">
              <a:off x="0" y="0"/>
              <a:ext cx="4816592" cy="465590"/>
            </a:xfrm>
            <a:custGeom>
              <a:avLst/>
              <a:gdLst/>
              <a:ahLst/>
              <a:cxnLst/>
              <a:rect r="r" b="b" t="t" l="l"/>
              <a:pathLst>
                <a:path h="465590" w="4816592">
                  <a:moveTo>
                    <a:pt x="0" y="0"/>
                  </a:moveTo>
                  <a:lnTo>
                    <a:pt x="4816592" y="0"/>
                  </a:lnTo>
                  <a:lnTo>
                    <a:pt x="4816592" y="465590"/>
                  </a:lnTo>
                  <a:lnTo>
                    <a:pt x="0" y="465590"/>
                  </a:lnTo>
                  <a:close/>
                </a:path>
              </a:pathLst>
            </a:custGeom>
            <a:solidFill>
              <a:srgbClr val="4AA0DE"/>
            </a:solidFill>
          </p:spPr>
        </p:sp>
        <p:sp>
          <p:nvSpPr>
            <p:cNvPr name="TextBox 4" id="4"/>
            <p:cNvSpPr txBox="true"/>
            <p:nvPr/>
          </p:nvSpPr>
          <p:spPr>
            <a:xfrm>
              <a:off x="0" y="-85725"/>
              <a:ext cx="4816593" cy="551315"/>
            </a:xfrm>
            <a:prstGeom prst="rect">
              <a:avLst/>
            </a:prstGeom>
          </p:spPr>
          <p:txBody>
            <a:bodyPr anchor="ctr" rtlCol="false" tIns="50800" lIns="50800" bIns="50800" rIns="50800"/>
            <a:lstStyle/>
            <a:p>
              <a:pPr algn="ctr">
                <a:lnSpc>
                  <a:spcPts val="6859"/>
                </a:lnSpc>
                <a:spcBef>
                  <a:spcPct val="0"/>
                </a:spcBef>
              </a:pPr>
              <a:r>
                <a:rPr lang="en-US" b="true" sz="4899">
                  <a:solidFill>
                    <a:srgbClr val="FFFFFF"/>
                  </a:solidFill>
                  <a:latin typeface="Tahoma Bold"/>
                  <a:ea typeface="Tahoma Bold"/>
                  <a:cs typeface="Tahoma Bold"/>
                  <a:sym typeface="Tahoma Bold"/>
                </a:rPr>
                <a:t>II. Mô hình học máy</a:t>
              </a:r>
            </a:p>
          </p:txBody>
        </p:sp>
      </p:grpSp>
      <p:sp>
        <p:nvSpPr>
          <p:cNvPr name="TextBox 5" id="5"/>
          <p:cNvSpPr txBox="true"/>
          <p:nvPr/>
        </p:nvSpPr>
        <p:spPr>
          <a:xfrm rot="0">
            <a:off x="1028700" y="2633860"/>
            <a:ext cx="7497723" cy="461010"/>
          </a:xfrm>
          <a:prstGeom prst="rect">
            <a:avLst/>
          </a:prstGeom>
        </p:spPr>
        <p:txBody>
          <a:bodyPr anchor="t" rtlCol="false" tIns="0" lIns="0" bIns="0" rIns="0">
            <a:spAutoFit/>
          </a:bodyPr>
          <a:lstStyle/>
          <a:p>
            <a:pPr algn="ctr">
              <a:lnSpc>
                <a:spcPts val="3570"/>
              </a:lnSpc>
              <a:spcBef>
                <a:spcPct val="0"/>
              </a:spcBef>
            </a:pPr>
            <a:r>
              <a:rPr lang="en-US" sz="3500">
                <a:solidFill>
                  <a:srgbClr val="000000"/>
                </a:solidFill>
                <a:latin typeface="Tahoma"/>
                <a:ea typeface="Tahoma"/>
                <a:cs typeface="Tahoma"/>
                <a:sym typeface="Tahoma"/>
              </a:rPr>
              <a:t>Những mô hình sử dụng cho bài toán:</a:t>
            </a:r>
          </a:p>
        </p:txBody>
      </p:sp>
      <p:sp>
        <p:nvSpPr>
          <p:cNvPr name="TextBox 6" id="6"/>
          <p:cNvSpPr txBox="true"/>
          <p:nvPr/>
        </p:nvSpPr>
        <p:spPr>
          <a:xfrm rot="0">
            <a:off x="1592699" y="3330777"/>
            <a:ext cx="6771442" cy="1325880"/>
          </a:xfrm>
          <a:prstGeom prst="rect">
            <a:avLst/>
          </a:prstGeom>
        </p:spPr>
        <p:txBody>
          <a:bodyPr anchor="t" rtlCol="false" tIns="0" lIns="0" bIns="0" rIns="0">
            <a:spAutoFit/>
          </a:bodyPr>
          <a:lstStyle/>
          <a:p>
            <a:pPr algn="l" marL="755651" indent="-377825" lvl="1">
              <a:lnSpc>
                <a:spcPts val="5460"/>
              </a:lnSpc>
              <a:buAutoNum type="arabicPeriod" startAt="1"/>
            </a:pPr>
            <a:r>
              <a:rPr lang="en-US" sz="3500">
                <a:solidFill>
                  <a:srgbClr val="000000"/>
                </a:solidFill>
                <a:latin typeface="Tahoma"/>
                <a:ea typeface="Tahoma"/>
                <a:cs typeface="Tahoma"/>
                <a:sym typeface="Tahoma"/>
              </a:rPr>
              <a:t>Random Forest</a:t>
            </a:r>
          </a:p>
          <a:p>
            <a:pPr algn="l" marL="755651" indent="-377825" lvl="1">
              <a:lnSpc>
                <a:spcPts val="5460"/>
              </a:lnSpc>
              <a:buAutoNum type="arabicPeriod" startAt="1"/>
            </a:pPr>
            <a:r>
              <a:rPr lang="en-US" sz="3500">
                <a:solidFill>
                  <a:srgbClr val="000000"/>
                </a:solidFill>
                <a:latin typeface="Tahoma"/>
                <a:ea typeface="Tahoma"/>
                <a:cs typeface="Tahoma"/>
                <a:sym typeface="Tahoma"/>
              </a:rPr>
              <a:t>SVM (Support Vector Machine)</a:t>
            </a:r>
          </a:p>
        </p:txBody>
      </p:sp>
      <p:sp>
        <p:nvSpPr>
          <p:cNvPr name="TextBox 7" id="7"/>
          <p:cNvSpPr txBox="true"/>
          <p:nvPr/>
        </p:nvSpPr>
        <p:spPr>
          <a:xfrm rot="0">
            <a:off x="17259300" y="9556572"/>
            <a:ext cx="641271" cy="333375"/>
          </a:xfrm>
          <a:prstGeom prst="rect">
            <a:avLst/>
          </a:prstGeom>
        </p:spPr>
        <p:txBody>
          <a:bodyPr anchor="t" rtlCol="false" tIns="0" lIns="0" bIns="0" rIns="0">
            <a:spAutoFit/>
          </a:bodyPr>
          <a:lstStyle/>
          <a:p>
            <a:pPr algn="ctr">
              <a:lnSpc>
                <a:spcPts val="2549"/>
              </a:lnSpc>
              <a:spcBef>
                <a:spcPct val="0"/>
              </a:spcBef>
            </a:pPr>
            <a:r>
              <a:rPr lang="en-US" sz="2499">
                <a:solidFill>
                  <a:srgbClr val="000000"/>
                </a:solidFill>
                <a:latin typeface="Tahoma"/>
                <a:ea typeface="Tahoma"/>
                <a:cs typeface="Tahoma"/>
                <a:sym typeface="Tahoma"/>
              </a:rPr>
              <a:t>4</a:t>
            </a:r>
            <a:r>
              <a:rPr lang="en-US" sz="2499">
                <a:solidFill>
                  <a:srgbClr val="000000"/>
                </a:solidFill>
                <a:latin typeface="Tahoma"/>
                <a:ea typeface="Tahoma"/>
                <a:cs typeface="Tahoma"/>
                <a:sym typeface="Tahoma"/>
              </a:rPr>
              <a:t>/18</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767788"/>
            <a:chOff x="0" y="0"/>
            <a:chExt cx="4816593" cy="465590"/>
          </a:xfrm>
        </p:grpSpPr>
        <p:sp>
          <p:nvSpPr>
            <p:cNvPr name="Freeform 3" id="3"/>
            <p:cNvSpPr/>
            <p:nvPr/>
          </p:nvSpPr>
          <p:spPr>
            <a:xfrm flipH="false" flipV="false" rot="0">
              <a:off x="0" y="0"/>
              <a:ext cx="4816592" cy="465590"/>
            </a:xfrm>
            <a:custGeom>
              <a:avLst/>
              <a:gdLst/>
              <a:ahLst/>
              <a:cxnLst/>
              <a:rect r="r" b="b" t="t" l="l"/>
              <a:pathLst>
                <a:path h="465590" w="4816592">
                  <a:moveTo>
                    <a:pt x="0" y="0"/>
                  </a:moveTo>
                  <a:lnTo>
                    <a:pt x="4816592" y="0"/>
                  </a:lnTo>
                  <a:lnTo>
                    <a:pt x="4816592" y="465590"/>
                  </a:lnTo>
                  <a:lnTo>
                    <a:pt x="0" y="465590"/>
                  </a:lnTo>
                  <a:close/>
                </a:path>
              </a:pathLst>
            </a:custGeom>
            <a:solidFill>
              <a:srgbClr val="4AA0DE"/>
            </a:solidFill>
          </p:spPr>
        </p:sp>
        <p:sp>
          <p:nvSpPr>
            <p:cNvPr name="TextBox 4" id="4"/>
            <p:cNvSpPr txBox="true"/>
            <p:nvPr/>
          </p:nvSpPr>
          <p:spPr>
            <a:xfrm>
              <a:off x="0" y="-85725"/>
              <a:ext cx="4816593" cy="551315"/>
            </a:xfrm>
            <a:prstGeom prst="rect">
              <a:avLst/>
            </a:prstGeom>
          </p:spPr>
          <p:txBody>
            <a:bodyPr anchor="ctr" rtlCol="false" tIns="50800" lIns="50800" bIns="50800" rIns="50800"/>
            <a:lstStyle/>
            <a:p>
              <a:pPr algn="ctr">
                <a:lnSpc>
                  <a:spcPts val="6859"/>
                </a:lnSpc>
                <a:spcBef>
                  <a:spcPct val="0"/>
                </a:spcBef>
              </a:pPr>
              <a:r>
                <a:rPr lang="en-US" b="true" sz="4899">
                  <a:solidFill>
                    <a:srgbClr val="FFFFFF"/>
                  </a:solidFill>
                  <a:latin typeface="Tahoma Bold"/>
                  <a:ea typeface="Tahoma Bold"/>
                  <a:cs typeface="Tahoma Bold"/>
                  <a:sym typeface="Tahoma Bold"/>
                </a:rPr>
                <a:t>Random Forest</a:t>
              </a:r>
            </a:p>
          </p:txBody>
        </p:sp>
      </p:grpSp>
      <p:sp>
        <p:nvSpPr>
          <p:cNvPr name="Freeform 5" id="5"/>
          <p:cNvSpPr/>
          <p:nvPr/>
        </p:nvSpPr>
        <p:spPr>
          <a:xfrm flipH="false" flipV="false" rot="0">
            <a:off x="4772844" y="3465865"/>
            <a:ext cx="8742313" cy="6240666"/>
          </a:xfrm>
          <a:custGeom>
            <a:avLst/>
            <a:gdLst/>
            <a:ahLst/>
            <a:cxnLst/>
            <a:rect r="r" b="b" t="t" l="l"/>
            <a:pathLst>
              <a:path h="6240666" w="8742313">
                <a:moveTo>
                  <a:pt x="0" y="0"/>
                </a:moveTo>
                <a:lnTo>
                  <a:pt x="8742312" y="0"/>
                </a:lnTo>
                <a:lnTo>
                  <a:pt x="8742312" y="6240666"/>
                </a:lnTo>
                <a:lnTo>
                  <a:pt x="0" y="6240666"/>
                </a:lnTo>
                <a:lnTo>
                  <a:pt x="0" y="0"/>
                </a:lnTo>
                <a:close/>
              </a:path>
            </a:pathLst>
          </a:custGeom>
          <a:blipFill>
            <a:blip r:embed="rId2"/>
            <a:stretch>
              <a:fillRect l="0" t="0" r="0" b="0"/>
            </a:stretch>
          </a:blipFill>
        </p:spPr>
      </p:sp>
      <p:sp>
        <p:nvSpPr>
          <p:cNvPr name="TextBox 6" id="6"/>
          <p:cNvSpPr txBox="true"/>
          <p:nvPr/>
        </p:nvSpPr>
        <p:spPr>
          <a:xfrm rot="0">
            <a:off x="315141" y="2392276"/>
            <a:ext cx="17972859" cy="803262"/>
          </a:xfrm>
          <a:prstGeom prst="rect">
            <a:avLst/>
          </a:prstGeom>
        </p:spPr>
        <p:txBody>
          <a:bodyPr anchor="t" rtlCol="false" tIns="0" lIns="0" bIns="0" rIns="0">
            <a:spAutoFit/>
          </a:bodyPr>
          <a:lstStyle/>
          <a:p>
            <a:pPr algn="l">
              <a:lnSpc>
                <a:spcPts val="3116"/>
              </a:lnSpc>
              <a:spcBef>
                <a:spcPct val="0"/>
              </a:spcBef>
            </a:pPr>
            <a:r>
              <a:rPr lang="en-US" sz="3054">
                <a:solidFill>
                  <a:srgbClr val="000000"/>
                </a:solidFill>
                <a:latin typeface="Tahoma"/>
                <a:ea typeface="Tahoma"/>
                <a:cs typeface="Tahoma"/>
                <a:sym typeface="Tahoma"/>
              </a:rPr>
              <a:t>Định nghĩa: Random Forest là một thuật toán học tập hợp (Ensemble Learning), được sử dụng cho cả bài toán phân loại (classification) và hồi quy (regression).</a:t>
            </a:r>
          </a:p>
        </p:txBody>
      </p:sp>
      <p:sp>
        <p:nvSpPr>
          <p:cNvPr name="TextBox 7" id="7"/>
          <p:cNvSpPr txBox="true"/>
          <p:nvPr/>
        </p:nvSpPr>
        <p:spPr>
          <a:xfrm rot="0">
            <a:off x="17259300" y="9558894"/>
            <a:ext cx="641271" cy="333375"/>
          </a:xfrm>
          <a:prstGeom prst="rect">
            <a:avLst/>
          </a:prstGeom>
        </p:spPr>
        <p:txBody>
          <a:bodyPr anchor="t" rtlCol="false" tIns="0" lIns="0" bIns="0" rIns="0">
            <a:spAutoFit/>
          </a:bodyPr>
          <a:lstStyle/>
          <a:p>
            <a:pPr algn="ctr">
              <a:lnSpc>
                <a:spcPts val="2549"/>
              </a:lnSpc>
              <a:spcBef>
                <a:spcPct val="0"/>
              </a:spcBef>
            </a:pPr>
            <a:r>
              <a:rPr lang="en-US" sz="2499">
                <a:solidFill>
                  <a:srgbClr val="000000"/>
                </a:solidFill>
                <a:latin typeface="Tahoma"/>
                <a:ea typeface="Tahoma"/>
                <a:cs typeface="Tahoma"/>
                <a:sym typeface="Tahoma"/>
              </a:rPr>
              <a:t>5</a:t>
            </a:r>
            <a:r>
              <a:rPr lang="en-US" sz="2499">
                <a:solidFill>
                  <a:srgbClr val="000000"/>
                </a:solidFill>
                <a:latin typeface="Tahoma"/>
                <a:ea typeface="Tahoma"/>
                <a:cs typeface="Tahoma"/>
                <a:sym typeface="Tahoma"/>
              </a:rPr>
              <a:t>/18</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767788"/>
            <a:chOff x="0" y="0"/>
            <a:chExt cx="4816593" cy="465590"/>
          </a:xfrm>
        </p:grpSpPr>
        <p:sp>
          <p:nvSpPr>
            <p:cNvPr name="Freeform 3" id="3"/>
            <p:cNvSpPr/>
            <p:nvPr/>
          </p:nvSpPr>
          <p:spPr>
            <a:xfrm flipH="false" flipV="false" rot="0">
              <a:off x="0" y="0"/>
              <a:ext cx="4816592" cy="465590"/>
            </a:xfrm>
            <a:custGeom>
              <a:avLst/>
              <a:gdLst/>
              <a:ahLst/>
              <a:cxnLst/>
              <a:rect r="r" b="b" t="t" l="l"/>
              <a:pathLst>
                <a:path h="465590" w="4816592">
                  <a:moveTo>
                    <a:pt x="0" y="0"/>
                  </a:moveTo>
                  <a:lnTo>
                    <a:pt x="4816592" y="0"/>
                  </a:lnTo>
                  <a:lnTo>
                    <a:pt x="4816592" y="465590"/>
                  </a:lnTo>
                  <a:lnTo>
                    <a:pt x="0" y="465590"/>
                  </a:lnTo>
                  <a:close/>
                </a:path>
              </a:pathLst>
            </a:custGeom>
            <a:solidFill>
              <a:srgbClr val="4AA0DE"/>
            </a:solidFill>
          </p:spPr>
        </p:sp>
        <p:sp>
          <p:nvSpPr>
            <p:cNvPr name="TextBox 4" id="4"/>
            <p:cNvSpPr txBox="true"/>
            <p:nvPr/>
          </p:nvSpPr>
          <p:spPr>
            <a:xfrm>
              <a:off x="0" y="-85725"/>
              <a:ext cx="4816593" cy="551315"/>
            </a:xfrm>
            <a:prstGeom prst="rect">
              <a:avLst/>
            </a:prstGeom>
          </p:spPr>
          <p:txBody>
            <a:bodyPr anchor="ctr" rtlCol="false" tIns="50800" lIns="50800" bIns="50800" rIns="50800"/>
            <a:lstStyle/>
            <a:p>
              <a:pPr algn="ctr">
                <a:lnSpc>
                  <a:spcPts val="6859"/>
                </a:lnSpc>
                <a:spcBef>
                  <a:spcPct val="0"/>
                </a:spcBef>
              </a:pPr>
              <a:r>
                <a:rPr lang="en-US" b="true" sz="4899">
                  <a:solidFill>
                    <a:srgbClr val="FFFFFF"/>
                  </a:solidFill>
                  <a:latin typeface="Tahoma Bold"/>
                  <a:ea typeface="Tahoma Bold"/>
                  <a:cs typeface="Tahoma Bold"/>
                  <a:sym typeface="Tahoma Bold"/>
                </a:rPr>
                <a:t>SVM (Support Vector Machine)</a:t>
              </a:r>
            </a:p>
          </p:txBody>
        </p:sp>
      </p:grpSp>
      <p:sp>
        <p:nvSpPr>
          <p:cNvPr name="Freeform 5" id="5"/>
          <p:cNvSpPr/>
          <p:nvPr/>
        </p:nvSpPr>
        <p:spPr>
          <a:xfrm flipH="false" flipV="false" rot="0">
            <a:off x="5249154" y="5401926"/>
            <a:ext cx="7124678" cy="4007631"/>
          </a:xfrm>
          <a:custGeom>
            <a:avLst/>
            <a:gdLst/>
            <a:ahLst/>
            <a:cxnLst/>
            <a:rect r="r" b="b" t="t" l="l"/>
            <a:pathLst>
              <a:path h="4007631" w="7124678">
                <a:moveTo>
                  <a:pt x="0" y="0"/>
                </a:moveTo>
                <a:lnTo>
                  <a:pt x="7124678" y="0"/>
                </a:lnTo>
                <a:lnTo>
                  <a:pt x="7124678" y="4007631"/>
                </a:lnTo>
                <a:lnTo>
                  <a:pt x="0" y="4007631"/>
                </a:lnTo>
                <a:lnTo>
                  <a:pt x="0" y="0"/>
                </a:lnTo>
                <a:close/>
              </a:path>
            </a:pathLst>
          </a:custGeom>
          <a:blipFill>
            <a:blip r:embed="rId2"/>
            <a:stretch>
              <a:fillRect l="0" t="0" r="0" b="0"/>
            </a:stretch>
          </a:blipFill>
        </p:spPr>
      </p:sp>
      <p:sp>
        <p:nvSpPr>
          <p:cNvPr name="TextBox 6" id="6"/>
          <p:cNvSpPr txBox="true"/>
          <p:nvPr/>
        </p:nvSpPr>
        <p:spPr>
          <a:xfrm rot="0">
            <a:off x="637043" y="2376786"/>
            <a:ext cx="16622257" cy="1729740"/>
          </a:xfrm>
          <a:prstGeom prst="rect">
            <a:avLst/>
          </a:prstGeom>
        </p:spPr>
        <p:txBody>
          <a:bodyPr anchor="t" rtlCol="false" tIns="0" lIns="0" bIns="0" rIns="0">
            <a:spAutoFit/>
          </a:bodyPr>
          <a:lstStyle/>
          <a:p>
            <a:pPr algn="l">
              <a:lnSpc>
                <a:spcPts val="4680"/>
              </a:lnSpc>
              <a:spcBef>
                <a:spcPct val="0"/>
              </a:spcBef>
            </a:pPr>
            <a:r>
              <a:rPr lang="en-US" sz="3000">
                <a:solidFill>
                  <a:srgbClr val="000000"/>
                </a:solidFill>
                <a:latin typeface="Tahoma"/>
                <a:ea typeface="Tahoma"/>
                <a:cs typeface="Tahoma"/>
                <a:sym typeface="Tahoma"/>
              </a:rPr>
              <a:t>Định nghĩa: Support Vector Machine (SVM) là một trong những thuật toán học máy giám sát (Supervised Machine Learning), được sử dụng rộng rãi cho cả bài toán Phân loại (Classification) và Hồi quy (Regression)</a:t>
            </a:r>
          </a:p>
        </p:txBody>
      </p:sp>
      <p:sp>
        <p:nvSpPr>
          <p:cNvPr name="TextBox 7" id="7"/>
          <p:cNvSpPr txBox="true"/>
          <p:nvPr/>
        </p:nvSpPr>
        <p:spPr>
          <a:xfrm rot="0">
            <a:off x="17259300" y="9558894"/>
            <a:ext cx="641271" cy="333375"/>
          </a:xfrm>
          <a:prstGeom prst="rect">
            <a:avLst/>
          </a:prstGeom>
        </p:spPr>
        <p:txBody>
          <a:bodyPr anchor="t" rtlCol="false" tIns="0" lIns="0" bIns="0" rIns="0">
            <a:spAutoFit/>
          </a:bodyPr>
          <a:lstStyle/>
          <a:p>
            <a:pPr algn="ctr">
              <a:lnSpc>
                <a:spcPts val="2549"/>
              </a:lnSpc>
              <a:spcBef>
                <a:spcPct val="0"/>
              </a:spcBef>
            </a:pPr>
            <a:r>
              <a:rPr lang="en-US" sz="2499">
                <a:solidFill>
                  <a:srgbClr val="000000"/>
                </a:solidFill>
                <a:latin typeface="Tahoma"/>
                <a:ea typeface="Tahoma"/>
                <a:cs typeface="Tahoma"/>
                <a:sym typeface="Tahoma"/>
              </a:rPr>
              <a:t>6</a:t>
            </a:r>
            <a:r>
              <a:rPr lang="en-US" sz="2499">
                <a:solidFill>
                  <a:srgbClr val="000000"/>
                </a:solidFill>
                <a:latin typeface="Tahoma"/>
                <a:ea typeface="Tahoma"/>
                <a:cs typeface="Tahoma"/>
                <a:sym typeface="Tahoma"/>
              </a:rPr>
              <a:t>/18</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36586" y="4274635"/>
            <a:ext cx="6142102" cy="5159797"/>
          </a:xfrm>
          <a:custGeom>
            <a:avLst/>
            <a:gdLst/>
            <a:ahLst/>
            <a:cxnLst/>
            <a:rect r="r" b="b" t="t" l="l"/>
            <a:pathLst>
              <a:path h="5159797" w="6142102">
                <a:moveTo>
                  <a:pt x="0" y="0"/>
                </a:moveTo>
                <a:lnTo>
                  <a:pt x="6142101" y="0"/>
                </a:lnTo>
                <a:lnTo>
                  <a:pt x="6142101" y="5159797"/>
                </a:lnTo>
                <a:lnTo>
                  <a:pt x="0" y="5159797"/>
                </a:lnTo>
                <a:lnTo>
                  <a:pt x="0" y="0"/>
                </a:lnTo>
                <a:close/>
              </a:path>
            </a:pathLst>
          </a:custGeom>
          <a:blipFill>
            <a:blip r:embed="rId2"/>
            <a:stretch>
              <a:fillRect l="0" t="0" r="0" b="0"/>
            </a:stretch>
          </a:blipFill>
        </p:spPr>
      </p:sp>
      <p:grpSp>
        <p:nvGrpSpPr>
          <p:cNvPr name="Group 3" id="3"/>
          <p:cNvGrpSpPr/>
          <p:nvPr/>
        </p:nvGrpSpPr>
        <p:grpSpPr>
          <a:xfrm rot="0">
            <a:off x="0" y="0"/>
            <a:ext cx="18288000" cy="1767788"/>
            <a:chOff x="0" y="0"/>
            <a:chExt cx="4816593" cy="465590"/>
          </a:xfrm>
        </p:grpSpPr>
        <p:sp>
          <p:nvSpPr>
            <p:cNvPr name="Freeform 4" id="4"/>
            <p:cNvSpPr/>
            <p:nvPr/>
          </p:nvSpPr>
          <p:spPr>
            <a:xfrm flipH="false" flipV="false" rot="0">
              <a:off x="0" y="0"/>
              <a:ext cx="4816592" cy="465590"/>
            </a:xfrm>
            <a:custGeom>
              <a:avLst/>
              <a:gdLst/>
              <a:ahLst/>
              <a:cxnLst/>
              <a:rect r="r" b="b" t="t" l="l"/>
              <a:pathLst>
                <a:path h="465590" w="4816592">
                  <a:moveTo>
                    <a:pt x="0" y="0"/>
                  </a:moveTo>
                  <a:lnTo>
                    <a:pt x="4816592" y="0"/>
                  </a:lnTo>
                  <a:lnTo>
                    <a:pt x="4816592" y="465590"/>
                  </a:lnTo>
                  <a:lnTo>
                    <a:pt x="0" y="465590"/>
                  </a:lnTo>
                  <a:close/>
                </a:path>
              </a:pathLst>
            </a:custGeom>
            <a:solidFill>
              <a:srgbClr val="4AA0DE"/>
            </a:solidFill>
          </p:spPr>
        </p:sp>
        <p:sp>
          <p:nvSpPr>
            <p:cNvPr name="TextBox 5" id="5"/>
            <p:cNvSpPr txBox="true"/>
            <p:nvPr/>
          </p:nvSpPr>
          <p:spPr>
            <a:xfrm>
              <a:off x="0" y="-85725"/>
              <a:ext cx="4816593" cy="551315"/>
            </a:xfrm>
            <a:prstGeom prst="rect">
              <a:avLst/>
            </a:prstGeom>
          </p:spPr>
          <p:txBody>
            <a:bodyPr anchor="ctr" rtlCol="false" tIns="50800" lIns="50800" bIns="50800" rIns="50800"/>
            <a:lstStyle/>
            <a:p>
              <a:pPr algn="ctr">
                <a:lnSpc>
                  <a:spcPts val="6859"/>
                </a:lnSpc>
                <a:spcBef>
                  <a:spcPct val="0"/>
                </a:spcBef>
              </a:pPr>
              <a:r>
                <a:rPr lang="en-US" b="true" sz="4899">
                  <a:solidFill>
                    <a:srgbClr val="FFFFFF"/>
                  </a:solidFill>
                  <a:latin typeface="Tahoma Bold"/>
                  <a:ea typeface="Tahoma Bold"/>
                  <a:cs typeface="Tahoma Bold"/>
                  <a:sym typeface="Tahoma Bold"/>
                </a:rPr>
                <a:t>SVM (Support Vector Machine)</a:t>
              </a:r>
            </a:p>
          </p:txBody>
        </p:sp>
      </p:grpSp>
      <p:sp>
        <p:nvSpPr>
          <p:cNvPr name="TextBox 6" id="6"/>
          <p:cNvSpPr txBox="true"/>
          <p:nvPr/>
        </p:nvSpPr>
        <p:spPr>
          <a:xfrm rot="0">
            <a:off x="571600" y="2323431"/>
            <a:ext cx="16149546" cy="1047750"/>
          </a:xfrm>
          <a:prstGeom prst="rect">
            <a:avLst/>
          </a:prstGeom>
        </p:spPr>
        <p:txBody>
          <a:bodyPr anchor="t" rtlCol="false" tIns="0" lIns="0" bIns="0" rIns="0">
            <a:spAutoFit/>
          </a:bodyPr>
          <a:lstStyle/>
          <a:p>
            <a:pPr algn="l">
              <a:lnSpc>
                <a:spcPts val="4200"/>
              </a:lnSpc>
              <a:spcBef>
                <a:spcPct val="0"/>
              </a:spcBef>
            </a:pPr>
            <a:r>
              <a:rPr lang="en-US" sz="3000">
                <a:solidFill>
                  <a:srgbClr val="000000"/>
                </a:solidFill>
                <a:latin typeface="Tahoma"/>
                <a:ea typeface="Tahoma"/>
                <a:cs typeface="Tahoma"/>
                <a:sym typeface="Tahoma"/>
              </a:rPr>
              <a:t>SVM không chỉ tìm bất kỳ siêu mặt phẳng nào mà tìm ra siêu mặt phẳng có Biên độ (Margin) lớn nhất giữa các lớp dữ liệu</a:t>
            </a:r>
          </a:p>
        </p:txBody>
      </p:sp>
      <p:sp>
        <p:nvSpPr>
          <p:cNvPr name="TextBox 7" id="7"/>
          <p:cNvSpPr txBox="true"/>
          <p:nvPr/>
        </p:nvSpPr>
        <p:spPr>
          <a:xfrm rot="0">
            <a:off x="17259300" y="9558894"/>
            <a:ext cx="641271" cy="333375"/>
          </a:xfrm>
          <a:prstGeom prst="rect">
            <a:avLst/>
          </a:prstGeom>
        </p:spPr>
        <p:txBody>
          <a:bodyPr anchor="t" rtlCol="false" tIns="0" lIns="0" bIns="0" rIns="0">
            <a:spAutoFit/>
          </a:bodyPr>
          <a:lstStyle/>
          <a:p>
            <a:pPr algn="ctr">
              <a:lnSpc>
                <a:spcPts val="2549"/>
              </a:lnSpc>
              <a:spcBef>
                <a:spcPct val="0"/>
              </a:spcBef>
            </a:pPr>
            <a:r>
              <a:rPr lang="en-US" sz="2499">
                <a:solidFill>
                  <a:srgbClr val="000000"/>
                </a:solidFill>
                <a:latin typeface="Tahoma"/>
                <a:ea typeface="Tahoma"/>
                <a:cs typeface="Tahoma"/>
                <a:sym typeface="Tahoma"/>
              </a:rPr>
              <a:t>7</a:t>
            </a:r>
            <a:r>
              <a:rPr lang="en-US" sz="2499">
                <a:solidFill>
                  <a:srgbClr val="000000"/>
                </a:solidFill>
                <a:latin typeface="Tahoma"/>
                <a:ea typeface="Tahoma"/>
                <a:cs typeface="Tahoma"/>
                <a:sym typeface="Tahoma"/>
              </a:rPr>
              <a:t>/18</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767788"/>
            <a:chOff x="0" y="0"/>
            <a:chExt cx="4816593" cy="465590"/>
          </a:xfrm>
        </p:grpSpPr>
        <p:sp>
          <p:nvSpPr>
            <p:cNvPr name="Freeform 3" id="3"/>
            <p:cNvSpPr/>
            <p:nvPr/>
          </p:nvSpPr>
          <p:spPr>
            <a:xfrm flipH="false" flipV="false" rot="0">
              <a:off x="0" y="0"/>
              <a:ext cx="4816592" cy="465590"/>
            </a:xfrm>
            <a:custGeom>
              <a:avLst/>
              <a:gdLst/>
              <a:ahLst/>
              <a:cxnLst/>
              <a:rect r="r" b="b" t="t" l="l"/>
              <a:pathLst>
                <a:path h="465590" w="4816592">
                  <a:moveTo>
                    <a:pt x="0" y="0"/>
                  </a:moveTo>
                  <a:lnTo>
                    <a:pt x="4816592" y="0"/>
                  </a:lnTo>
                  <a:lnTo>
                    <a:pt x="4816592" y="465590"/>
                  </a:lnTo>
                  <a:lnTo>
                    <a:pt x="0" y="465590"/>
                  </a:lnTo>
                  <a:close/>
                </a:path>
              </a:pathLst>
            </a:custGeom>
            <a:solidFill>
              <a:srgbClr val="4AA0DE"/>
            </a:solidFill>
          </p:spPr>
        </p:sp>
        <p:sp>
          <p:nvSpPr>
            <p:cNvPr name="TextBox 4" id="4"/>
            <p:cNvSpPr txBox="true"/>
            <p:nvPr/>
          </p:nvSpPr>
          <p:spPr>
            <a:xfrm>
              <a:off x="0" y="-85725"/>
              <a:ext cx="4816593" cy="551315"/>
            </a:xfrm>
            <a:prstGeom prst="rect">
              <a:avLst/>
            </a:prstGeom>
          </p:spPr>
          <p:txBody>
            <a:bodyPr anchor="ctr" rtlCol="false" tIns="50800" lIns="50800" bIns="50800" rIns="50800"/>
            <a:lstStyle/>
            <a:p>
              <a:pPr algn="ctr">
                <a:lnSpc>
                  <a:spcPts val="6859"/>
                </a:lnSpc>
                <a:spcBef>
                  <a:spcPct val="0"/>
                </a:spcBef>
              </a:pPr>
              <a:r>
                <a:rPr lang="en-US" b="true" sz="4899">
                  <a:solidFill>
                    <a:srgbClr val="FFFFFF"/>
                  </a:solidFill>
                  <a:latin typeface="Tahoma Bold"/>
                  <a:ea typeface="Tahoma Bold"/>
                  <a:cs typeface="Tahoma Bold"/>
                  <a:sym typeface="Tahoma Bold"/>
                </a:rPr>
                <a:t>Metrics đánh giá</a:t>
              </a:r>
            </a:p>
          </p:txBody>
        </p:sp>
      </p:grpSp>
      <p:sp>
        <p:nvSpPr>
          <p:cNvPr name="TextBox 5" id="5"/>
          <p:cNvSpPr txBox="true"/>
          <p:nvPr/>
        </p:nvSpPr>
        <p:spPr>
          <a:xfrm rot="0">
            <a:off x="1454149" y="2593975"/>
            <a:ext cx="2639020" cy="2949575"/>
          </a:xfrm>
          <a:prstGeom prst="rect">
            <a:avLst/>
          </a:prstGeom>
        </p:spPr>
        <p:txBody>
          <a:bodyPr anchor="t" rtlCol="false" tIns="0" lIns="0" bIns="0" rIns="0">
            <a:spAutoFit/>
          </a:bodyPr>
          <a:lstStyle/>
          <a:p>
            <a:pPr algn="ctr" marL="755651" indent="-377825" lvl="1">
              <a:lnSpc>
                <a:spcPts val="5950"/>
              </a:lnSpc>
              <a:buAutoNum type="arabicPeriod" startAt="1"/>
            </a:pPr>
            <a:r>
              <a:rPr lang="en-US" sz="3500">
                <a:solidFill>
                  <a:srgbClr val="000000"/>
                </a:solidFill>
                <a:latin typeface="Tahoma"/>
                <a:ea typeface="Tahoma"/>
                <a:cs typeface="Tahoma"/>
                <a:sym typeface="Tahoma"/>
              </a:rPr>
              <a:t>Precision</a:t>
            </a:r>
          </a:p>
          <a:p>
            <a:pPr algn="ctr" marL="755651" indent="-377825" lvl="1">
              <a:lnSpc>
                <a:spcPts val="5950"/>
              </a:lnSpc>
              <a:buAutoNum type="arabicPeriod" startAt="1"/>
            </a:pPr>
            <a:r>
              <a:rPr lang="en-US" sz="3500">
                <a:solidFill>
                  <a:srgbClr val="000000"/>
                </a:solidFill>
                <a:latin typeface="Tahoma"/>
                <a:ea typeface="Tahoma"/>
                <a:cs typeface="Tahoma"/>
                <a:sym typeface="Tahoma"/>
              </a:rPr>
              <a:t> Accuracy</a:t>
            </a:r>
          </a:p>
          <a:p>
            <a:pPr algn="l" marL="755651" indent="-377825" lvl="1">
              <a:lnSpc>
                <a:spcPts val="5950"/>
              </a:lnSpc>
              <a:buAutoNum type="arabicPeriod" startAt="1"/>
            </a:pPr>
            <a:r>
              <a:rPr lang="en-US" sz="3500">
                <a:solidFill>
                  <a:srgbClr val="000000"/>
                </a:solidFill>
                <a:latin typeface="Tahoma"/>
                <a:ea typeface="Tahoma"/>
                <a:cs typeface="Tahoma"/>
                <a:sym typeface="Tahoma"/>
              </a:rPr>
              <a:t> Recall</a:t>
            </a:r>
          </a:p>
          <a:p>
            <a:pPr algn="l" marL="755651" indent="-377825" lvl="1">
              <a:lnSpc>
                <a:spcPts val="5950"/>
              </a:lnSpc>
              <a:buAutoNum type="arabicPeriod" startAt="1"/>
            </a:pPr>
            <a:r>
              <a:rPr lang="en-US" sz="3500">
                <a:solidFill>
                  <a:srgbClr val="000000"/>
                </a:solidFill>
                <a:latin typeface="Tahoma"/>
                <a:ea typeface="Tahoma"/>
                <a:cs typeface="Tahoma"/>
                <a:sym typeface="Tahoma"/>
              </a:rPr>
              <a:t> F1-score</a:t>
            </a:r>
          </a:p>
        </p:txBody>
      </p:sp>
      <p:sp>
        <p:nvSpPr>
          <p:cNvPr name="TextBox 6" id="6"/>
          <p:cNvSpPr txBox="true"/>
          <p:nvPr/>
        </p:nvSpPr>
        <p:spPr>
          <a:xfrm rot="0">
            <a:off x="17259300" y="9558894"/>
            <a:ext cx="641271" cy="333375"/>
          </a:xfrm>
          <a:prstGeom prst="rect">
            <a:avLst/>
          </a:prstGeom>
        </p:spPr>
        <p:txBody>
          <a:bodyPr anchor="t" rtlCol="false" tIns="0" lIns="0" bIns="0" rIns="0">
            <a:spAutoFit/>
          </a:bodyPr>
          <a:lstStyle/>
          <a:p>
            <a:pPr algn="ctr">
              <a:lnSpc>
                <a:spcPts val="2549"/>
              </a:lnSpc>
              <a:spcBef>
                <a:spcPct val="0"/>
              </a:spcBef>
            </a:pPr>
            <a:r>
              <a:rPr lang="en-US" sz="2499">
                <a:solidFill>
                  <a:srgbClr val="000000"/>
                </a:solidFill>
                <a:latin typeface="Tahoma"/>
                <a:ea typeface="Tahoma"/>
                <a:cs typeface="Tahoma"/>
                <a:sym typeface="Tahoma"/>
              </a:rPr>
              <a:t>8</a:t>
            </a:r>
            <a:r>
              <a:rPr lang="en-US" sz="2499">
                <a:solidFill>
                  <a:srgbClr val="000000"/>
                </a:solidFill>
                <a:latin typeface="Tahoma"/>
                <a:ea typeface="Tahoma"/>
                <a:cs typeface="Tahoma"/>
                <a:sym typeface="Tahoma"/>
              </a:rPr>
              <a:t>/18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767788"/>
            <a:chOff x="0" y="0"/>
            <a:chExt cx="4816593" cy="465590"/>
          </a:xfrm>
        </p:grpSpPr>
        <p:sp>
          <p:nvSpPr>
            <p:cNvPr name="Freeform 3" id="3"/>
            <p:cNvSpPr/>
            <p:nvPr/>
          </p:nvSpPr>
          <p:spPr>
            <a:xfrm flipH="false" flipV="false" rot="0">
              <a:off x="0" y="0"/>
              <a:ext cx="4816592" cy="465590"/>
            </a:xfrm>
            <a:custGeom>
              <a:avLst/>
              <a:gdLst/>
              <a:ahLst/>
              <a:cxnLst/>
              <a:rect r="r" b="b" t="t" l="l"/>
              <a:pathLst>
                <a:path h="465590" w="4816592">
                  <a:moveTo>
                    <a:pt x="0" y="0"/>
                  </a:moveTo>
                  <a:lnTo>
                    <a:pt x="4816592" y="0"/>
                  </a:lnTo>
                  <a:lnTo>
                    <a:pt x="4816592" y="465590"/>
                  </a:lnTo>
                  <a:lnTo>
                    <a:pt x="0" y="465590"/>
                  </a:lnTo>
                  <a:close/>
                </a:path>
              </a:pathLst>
            </a:custGeom>
            <a:solidFill>
              <a:srgbClr val="4AA0DE"/>
            </a:solidFill>
          </p:spPr>
        </p:sp>
        <p:sp>
          <p:nvSpPr>
            <p:cNvPr name="TextBox 4" id="4"/>
            <p:cNvSpPr txBox="true"/>
            <p:nvPr/>
          </p:nvSpPr>
          <p:spPr>
            <a:xfrm>
              <a:off x="0" y="-85725"/>
              <a:ext cx="4816593" cy="551315"/>
            </a:xfrm>
            <a:prstGeom prst="rect">
              <a:avLst/>
            </a:prstGeom>
          </p:spPr>
          <p:txBody>
            <a:bodyPr anchor="ctr" rtlCol="false" tIns="50800" lIns="50800" bIns="50800" rIns="50800"/>
            <a:lstStyle/>
            <a:p>
              <a:pPr algn="ctr">
                <a:lnSpc>
                  <a:spcPts val="6859"/>
                </a:lnSpc>
                <a:spcBef>
                  <a:spcPct val="0"/>
                </a:spcBef>
              </a:pPr>
              <a:r>
                <a:rPr lang="en-US" b="true" sz="4899">
                  <a:solidFill>
                    <a:srgbClr val="FFFFFF"/>
                  </a:solidFill>
                  <a:latin typeface="Tahoma Bold"/>
                  <a:ea typeface="Tahoma Bold"/>
                  <a:cs typeface="Tahoma Bold"/>
                  <a:sym typeface="Tahoma Bold"/>
                </a:rPr>
                <a:t>Mô tả dữ liệu</a:t>
              </a:r>
            </a:p>
          </p:txBody>
        </p:sp>
      </p:grpSp>
      <p:sp>
        <p:nvSpPr>
          <p:cNvPr name="Freeform 5" id="5"/>
          <p:cNvSpPr/>
          <p:nvPr/>
        </p:nvSpPr>
        <p:spPr>
          <a:xfrm flipH="false" flipV="false" rot="0">
            <a:off x="1308637" y="2728938"/>
            <a:ext cx="15670726" cy="6529362"/>
          </a:xfrm>
          <a:custGeom>
            <a:avLst/>
            <a:gdLst/>
            <a:ahLst/>
            <a:cxnLst/>
            <a:rect r="r" b="b" t="t" l="l"/>
            <a:pathLst>
              <a:path h="6529362" w="15670726">
                <a:moveTo>
                  <a:pt x="0" y="0"/>
                </a:moveTo>
                <a:lnTo>
                  <a:pt x="15670726" y="0"/>
                </a:lnTo>
                <a:lnTo>
                  <a:pt x="15670726" y="6529362"/>
                </a:lnTo>
                <a:lnTo>
                  <a:pt x="0" y="6529362"/>
                </a:lnTo>
                <a:lnTo>
                  <a:pt x="0" y="0"/>
                </a:lnTo>
                <a:close/>
              </a:path>
            </a:pathLst>
          </a:custGeom>
          <a:blipFill>
            <a:blip r:embed="rId2"/>
            <a:stretch>
              <a:fillRect l="-399" t="0" r="0" b="0"/>
            </a:stretch>
          </a:blipFill>
        </p:spPr>
      </p:sp>
      <p:sp>
        <p:nvSpPr>
          <p:cNvPr name="TextBox 6" id="6"/>
          <p:cNvSpPr txBox="true"/>
          <p:nvPr/>
        </p:nvSpPr>
        <p:spPr>
          <a:xfrm rot="0">
            <a:off x="17259300" y="9558894"/>
            <a:ext cx="641271" cy="333375"/>
          </a:xfrm>
          <a:prstGeom prst="rect">
            <a:avLst/>
          </a:prstGeom>
        </p:spPr>
        <p:txBody>
          <a:bodyPr anchor="t" rtlCol="false" tIns="0" lIns="0" bIns="0" rIns="0">
            <a:spAutoFit/>
          </a:bodyPr>
          <a:lstStyle/>
          <a:p>
            <a:pPr algn="ctr">
              <a:lnSpc>
                <a:spcPts val="2549"/>
              </a:lnSpc>
              <a:spcBef>
                <a:spcPct val="0"/>
              </a:spcBef>
            </a:pPr>
            <a:r>
              <a:rPr lang="en-US" sz="2499">
                <a:solidFill>
                  <a:srgbClr val="000000"/>
                </a:solidFill>
                <a:latin typeface="Tahoma"/>
                <a:ea typeface="Tahoma"/>
                <a:cs typeface="Tahoma"/>
                <a:sym typeface="Tahoma"/>
              </a:rPr>
              <a:t>9</a:t>
            </a:r>
            <a:r>
              <a:rPr lang="en-US" sz="2499">
                <a:solidFill>
                  <a:srgbClr val="000000"/>
                </a:solidFill>
                <a:latin typeface="Tahoma"/>
                <a:ea typeface="Tahoma"/>
                <a:cs typeface="Tahoma"/>
                <a:sym typeface="Tahoma"/>
              </a:rPr>
              <a:t>/18</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733526" y="2945833"/>
            <a:ext cx="6386795" cy="6628719"/>
          </a:xfrm>
          <a:custGeom>
            <a:avLst/>
            <a:gdLst/>
            <a:ahLst/>
            <a:cxnLst/>
            <a:rect r="r" b="b" t="t" l="l"/>
            <a:pathLst>
              <a:path h="6628719" w="6386795">
                <a:moveTo>
                  <a:pt x="0" y="0"/>
                </a:moveTo>
                <a:lnTo>
                  <a:pt x="6386794" y="0"/>
                </a:lnTo>
                <a:lnTo>
                  <a:pt x="6386794" y="6628719"/>
                </a:lnTo>
                <a:lnTo>
                  <a:pt x="0" y="6628719"/>
                </a:lnTo>
                <a:lnTo>
                  <a:pt x="0" y="0"/>
                </a:lnTo>
                <a:close/>
              </a:path>
            </a:pathLst>
          </a:custGeom>
          <a:blipFill>
            <a:blip r:embed="rId2"/>
            <a:stretch>
              <a:fillRect l="0" t="0" r="0" b="0"/>
            </a:stretch>
          </a:blipFill>
        </p:spPr>
      </p:sp>
      <p:grpSp>
        <p:nvGrpSpPr>
          <p:cNvPr name="Group 3" id="3"/>
          <p:cNvGrpSpPr/>
          <p:nvPr/>
        </p:nvGrpSpPr>
        <p:grpSpPr>
          <a:xfrm rot="0">
            <a:off x="0" y="0"/>
            <a:ext cx="18288000" cy="1767788"/>
            <a:chOff x="0" y="0"/>
            <a:chExt cx="4816593" cy="465590"/>
          </a:xfrm>
        </p:grpSpPr>
        <p:sp>
          <p:nvSpPr>
            <p:cNvPr name="Freeform 4" id="4"/>
            <p:cNvSpPr/>
            <p:nvPr/>
          </p:nvSpPr>
          <p:spPr>
            <a:xfrm flipH="false" flipV="false" rot="0">
              <a:off x="0" y="0"/>
              <a:ext cx="4816592" cy="465590"/>
            </a:xfrm>
            <a:custGeom>
              <a:avLst/>
              <a:gdLst/>
              <a:ahLst/>
              <a:cxnLst/>
              <a:rect r="r" b="b" t="t" l="l"/>
              <a:pathLst>
                <a:path h="465590" w="4816592">
                  <a:moveTo>
                    <a:pt x="0" y="0"/>
                  </a:moveTo>
                  <a:lnTo>
                    <a:pt x="4816592" y="0"/>
                  </a:lnTo>
                  <a:lnTo>
                    <a:pt x="4816592" y="465590"/>
                  </a:lnTo>
                  <a:lnTo>
                    <a:pt x="0" y="465590"/>
                  </a:lnTo>
                  <a:close/>
                </a:path>
              </a:pathLst>
            </a:custGeom>
            <a:solidFill>
              <a:srgbClr val="4AA0DE"/>
            </a:solidFill>
          </p:spPr>
        </p:sp>
        <p:sp>
          <p:nvSpPr>
            <p:cNvPr name="TextBox 5" id="5"/>
            <p:cNvSpPr txBox="true"/>
            <p:nvPr/>
          </p:nvSpPr>
          <p:spPr>
            <a:xfrm>
              <a:off x="0" y="-85725"/>
              <a:ext cx="4816593" cy="551315"/>
            </a:xfrm>
            <a:prstGeom prst="rect">
              <a:avLst/>
            </a:prstGeom>
          </p:spPr>
          <p:txBody>
            <a:bodyPr anchor="ctr" rtlCol="false" tIns="50800" lIns="50800" bIns="50800" rIns="50800"/>
            <a:lstStyle/>
            <a:p>
              <a:pPr algn="ctr">
                <a:lnSpc>
                  <a:spcPts val="6859"/>
                </a:lnSpc>
                <a:spcBef>
                  <a:spcPct val="0"/>
                </a:spcBef>
              </a:pPr>
              <a:r>
                <a:rPr lang="en-US" b="true" sz="4899">
                  <a:solidFill>
                    <a:srgbClr val="FFFFFF"/>
                  </a:solidFill>
                  <a:latin typeface="Tahoma Bold"/>
                  <a:ea typeface="Tahoma Bold"/>
                  <a:cs typeface="Tahoma Bold"/>
                  <a:sym typeface="Tahoma Bold"/>
                </a:rPr>
                <a:t>Phân tích dữ liệu</a:t>
              </a:r>
            </a:p>
          </p:txBody>
        </p:sp>
      </p:grpSp>
      <p:sp>
        <p:nvSpPr>
          <p:cNvPr name="TextBox 6" id="6"/>
          <p:cNvSpPr txBox="true"/>
          <p:nvPr/>
        </p:nvSpPr>
        <p:spPr>
          <a:xfrm rot="0">
            <a:off x="311679" y="2025023"/>
            <a:ext cx="14390338" cy="596900"/>
          </a:xfrm>
          <a:prstGeom prst="rect">
            <a:avLst/>
          </a:prstGeom>
        </p:spPr>
        <p:txBody>
          <a:bodyPr anchor="t" rtlCol="false" tIns="0" lIns="0" bIns="0" rIns="0">
            <a:spAutoFit/>
          </a:bodyPr>
          <a:lstStyle/>
          <a:p>
            <a:pPr algn="l">
              <a:lnSpc>
                <a:spcPts val="4900"/>
              </a:lnSpc>
              <a:spcBef>
                <a:spcPct val="0"/>
              </a:spcBef>
            </a:pPr>
            <a:r>
              <a:rPr lang="en-US" sz="3500">
                <a:solidFill>
                  <a:srgbClr val="000000"/>
                </a:solidFill>
                <a:latin typeface="Tahoma"/>
                <a:ea typeface="Tahoma"/>
                <a:cs typeface="Tahoma"/>
                <a:sym typeface="Tahoma"/>
              </a:rPr>
              <a:t>Tập dữ liệu mất cân bằng ( Poor ~ 4,2%)</a:t>
            </a:r>
          </a:p>
        </p:txBody>
      </p:sp>
      <p:sp>
        <p:nvSpPr>
          <p:cNvPr name="TextBox 7" id="7"/>
          <p:cNvSpPr txBox="true"/>
          <p:nvPr/>
        </p:nvSpPr>
        <p:spPr>
          <a:xfrm rot="0">
            <a:off x="17172623" y="9558894"/>
            <a:ext cx="814626" cy="333375"/>
          </a:xfrm>
          <a:prstGeom prst="rect">
            <a:avLst/>
          </a:prstGeom>
        </p:spPr>
        <p:txBody>
          <a:bodyPr anchor="t" rtlCol="false" tIns="0" lIns="0" bIns="0" rIns="0">
            <a:spAutoFit/>
          </a:bodyPr>
          <a:lstStyle/>
          <a:p>
            <a:pPr algn="ctr">
              <a:lnSpc>
                <a:spcPts val="2549"/>
              </a:lnSpc>
              <a:spcBef>
                <a:spcPct val="0"/>
              </a:spcBef>
            </a:pPr>
            <a:r>
              <a:rPr lang="en-US" sz="2499">
                <a:solidFill>
                  <a:srgbClr val="000000"/>
                </a:solidFill>
                <a:latin typeface="Tahoma"/>
                <a:ea typeface="Tahoma"/>
                <a:cs typeface="Tahoma"/>
                <a:sym typeface="Tahoma"/>
              </a:rPr>
              <a:t>10</a:t>
            </a:r>
            <a:r>
              <a:rPr lang="en-US" sz="2499">
                <a:solidFill>
                  <a:srgbClr val="000000"/>
                </a:solidFill>
                <a:latin typeface="Tahoma"/>
                <a:ea typeface="Tahoma"/>
                <a:cs typeface="Tahoma"/>
                <a:sym typeface="Tahoma"/>
              </a:rPr>
              <a:t>/18</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734442" y="2700634"/>
            <a:ext cx="8819116" cy="7586366"/>
          </a:xfrm>
          <a:custGeom>
            <a:avLst/>
            <a:gdLst/>
            <a:ahLst/>
            <a:cxnLst/>
            <a:rect r="r" b="b" t="t" l="l"/>
            <a:pathLst>
              <a:path h="7586366" w="8819116">
                <a:moveTo>
                  <a:pt x="0" y="0"/>
                </a:moveTo>
                <a:lnTo>
                  <a:pt x="8819116" y="0"/>
                </a:lnTo>
                <a:lnTo>
                  <a:pt x="8819116" y="7586366"/>
                </a:lnTo>
                <a:lnTo>
                  <a:pt x="0" y="7586366"/>
                </a:lnTo>
                <a:lnTo>
                  <a:pt x="0" y="0"/>
                </a:lnTo>
                <a:close/>
              </a:path>
            </a:pathLst>
          </a:custGeom>
          <a:blipFill>
            <a:blip r:embed="rId2"/>
            <a:stretch>
              <a:fillRect l="0" t="-1016" r="0" b="-3172"/>
            </a:stretch>
          </a:blipFill>
        </p:spPr>
      </p:sp>
      <p:grpSp>
        <p:nvGrpSpPr>
          <p:cNvPr name="Group 3" id="3"/>
          <p:cNvGrpSpPr/>
          <p:nvPr/>
        </p:nvGrpSpPr>
        <p:grpSpPr>
          <a:xfrm rot="0">
            <a:off x="0" y="0"/>
            <a:ext cx="18288000" cy="1767788"/>
            <a:chOff x="0" y="0"/>
            <a:chExt cx="4816593" cy="465590"/>
          </a:xfrm>
        </p:grpSpPr>
        <p:sp>
          <p:nvSpPr>
            <p:cNvPr name="Freeform 4" id="4"/>
            <p:cNvSpPr/>
            <p:nvPr/>
          </p:nvSpPr>
          <p:spPr>
            <a:xfrm flipH="false" flipV="false" rot="0">
              <a:off x="0" y="0"/>
              <a:ext cx="4816592" cy="465590"/>
            </a:xfrm>
            <a:custGeom>
              <a:avLst/>
              <a:gdLst/>
              <a:ahLst/>
              <a:cxnLst/>
              <a:rect r="r" b="b" t="t" l="l"/>
              <a:pathLst>
                <a:path h="465590" w="4816592">
                  <a:moveTo>
                    <a:pt x="0" y="0"/>
                  </a:moveTo>
                  <a:lnTo>
                    <a:pt x="4816592" y="0"/>
                  </a:lnTo>
                  <a:lnTo>
                    <a:pt x="4816592" y="465590"/>
                  </a:lnTo>
                  <a:lnTo>
                    <a:pt x="0" y="465590"/>
                  </a:lnTo>
                  <a:close/>
                </a:path>
              </a:pathLst>
            </a:custGeom>
            <a:solidFill>
              <a:srgbClr val="4AA0DE"/>
            </a:solidFill>
          </p:spPr>
        </p:sp>
        <p:sp>
          <p:nvSpPr>
            <p:cNvPr name="TextBox 5" id="5"/>
            <p:cNvSpPr txBox="true"/>
            <p:nvPr/>
          </p:nvSpPr>
          <p:spPr>
            <a:xfrm>
              <a:off x="0" y="-85725"/>
              <a:ext cx="4816593" cy="551315"/>
            </a:xfrm>
            <a:prstGeom prst="rect">
              <a:avLst/>
            </a:prstGeom>
          </p:spPr>
          <p:txBody>
            <a:bodyPr anchor="ctr" rtlCol="false" tIns="50800" lIns="50800" bIns="50800" rIns="50800"/>
            <a:lstStyle/>
            <a:p>
              <a:pPr algn="ctr">
                <a:lnSpc>
                  <a:spcPts val="6859"/>
                </a:lnSpc>
                <a:spcBef>
                  <a:spcPct val="0"/>
                </a:spcBef>
              </a:pPr>
              <a:r>
                <a:rPr lang="en-US" b="true" sz="4899">
                  <a:solidFill>
                    <a:srgbClr val="FFFFFF"/>
                  </a:solidFill>
                  <a:latin typeface="Tahoma Bold"/>
                  <a:ea typeface="Tahoma Bold"/>
                  <a:cs typeface="Tahoma Bold"/>
                  <a:sym typeface="Tahoma Bold"/>
                </a:rPr>
                <a:t>Phân tích dữ liệu</a:t>
              </a:r>
            </a:p>
          </p:txBody>
        </p:sp>
      </p:grpSp>
      <p:sp>
        <p:nvSpPr>
          <p:cNvPr name="TextBox 6" id="6"/>
          <p:cNvSpPr txBox="true"/>
          <p:nvPr/>
        </p:nvSpPr>
        <p:spPr>
          <a:xfrm rot="0">
            <a:off x="374014" y="1989434"/>
            <a:ext cx="10554957" cy="596900"/>
          </a:xfrm>
          <a:prstGeom prst="rect">
            <a:avLst/>
          </a:prstGeom>
        </p:spPr>
        <p:txBody>
          <a:bodyPr anchor="t" rtlCol="false" tIns="0" lIns="0" bIns="0" rIns="0">
            <a:spAutoFit/>
          </a:bodyPr>
          <a:lstStyle/>
          <a:p>
            <a:pPr algn="l">
              <a:lnSpc>
                <a:spcPts val="4900"/>
              </a:lnSpc>
              <a:spcBef>
                <a:spcPct val="0"/>
              </a:spcBef>
            </a:pPr>
            <a:r>
              <a:rPr lang="en-US" sz="3500">
                <a:solidFill>
                  <a:srgbClr val="000000"/>
                </a:solidFill>
                <a:latin typeface="Tahoma"/>
                <a:ea typeface="Tahoma"/>
                <a:cs typeface="Tahoma"/>
                <a:sym typeface="Tahoma"/>
              </a:rPr>
              <a:t>Ma trận tương quan giữa các thuộc tính</a:t>
            </a:r>
          </a:p>
        </p:txBody>
      </p:sp>
      <p:sp>
        <p:nvSpPr>
          <p:cNvPr name="TextBox 7" id="7"/>
          <p:cNvSpPr txBox="true"/>
          <p:nvPr/>
        </p:nvSpPr>
        <p:spPr>
          <a:xfrm rot="0">
            <a:off x="17172623" y="9558894"/>
            <a:ext cx="814626" cy="333375"/>
          </a:xfrm>
          <a:prstGeom prst="rect">
            <a:avLst/>
          </a:prstGeom>
        </p:spPr>
        <p:txBody>
          <a:bodyPr anchor="t" rtlCol="false" tIns="0" lIns="0" bIns="0" rIns="0">
            <a:spAutoFit/>
          </a:bodyPr>
          <a:lstStyle/>
          <a:p>
            <a:pPr algn="ctr">
              <a:lnSpc>
                <a:spcPts val="2549"/>
              </a:lnSpc>
              <a:spcBef>
                <a:spcPct val="0"/>
              </a:spcBef>
            </a:pPr>
            <a:r>
              <a:rPr lang="en-US" sz="2499">
                <a:solidFill>
                  <a:srgbClr val="000000"/>
                </a:solidFill>
                <a:latin typeface="Tahoma"/>
                <a:ea typeface="Tahoma"/>
                <a:cs typeface="Tahoma"/>
                <a:sym typeface="Tahoma"/>
              </a:rPr>
              <a:t>11</a:t>
            </a:r>
            <a:r>
              <a:rPr lang="en-US" sz="2499">
                <a:solidFill>
                  <a:srgbClr val="000000"/>
                </a:solidFill>
                <a:latin typeface="Tahoma"/>
                <a:ea typeface="Tahoma"/>
                <a:cs typeface="Tahoma"/>
                <a:sym typeface="Tahoma"/>
              </a:rPr>
              <a:t>/18</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767788"/>
            <a:chOff x="0" y="0"/>
            <a:chExt cx="4816593" cy="465590"/>
          </a:xfrm>
        </p:grpSpPr>
        <p:sp>
          <p:nvSpPr>
            <p:cNvPr name="Freeform 3" id="3"/>
            <p:cNvSpPr/>
            <p:nvPr/>
          </p:nvSpPr>
          <p:spPr>
            <a:xfrm flipH="false" flipV="false" rot="0">
              <a:off x="0" y="0"/>
              <a:ext cx="4816592" cy="465590"/>
            </a:xfrm>
            <a:custGeom>
              <a:avLst/>
              <a:gdLst/>
              <a:ahLst/>
              <a:cxnLst/>
              <a:rect r="r" b="b" t="t" l="l"/>
              <a:pathLst>
                <a:path h="465590" w="4816592">
                  <a:moveTo>
                    <a:pt x="0" y="0"/>
                  </a:moveTo>
                  <a:lnTo>
                    <a:pt x="4816592" y="0"/>
                  </a:lnTo>
                  <a:lnTo>
                    <a:pt x="4816592" y="465590"/>
                  </a:lnTo>
                  <a:lnTo>
                    <a:pt x="0" y="465590"/>
                  </a:lnTo>
                  <a:close/>
                </a:path>
              </a:pathLst>
            </a:custGeom>
            <a:solidFill>
              <a:srgbClr val="4AA0DE"/>
            </a:solidFill>
          </p:spPr>
        </p:sp>
        <p:sp>
          <p:nvSpPr>
            <p:cNvPr name="TextBox 4" id="4"/>
            <p:cNvSpPr txBox="true"/>
            <p:nvPr/>
          </p:nvSpPr>
          <p:spPr>
            <a:xfrm>
              <a:off x="0" y="-85725"/>
              <a:ext cx="4816593" cy="551315"/>
            </a:xfrm>
            <a:prstGeom prst="rect">
              <a:avLst/>
            </a:prstGeom>
          </p:spPr>
          <p:txBody>
            <a:bodyPr anchor="ctr" rtlCol="false" tIns="50800" lIns="50800" bIns="50800" rIns="50800"/>
            <a:lstStyle/>
            <a:p>
              <a:pPr algn="ctr">
                <a:lnSpc>
                  <a:spcPts val="6859"/>
                </a:lnSpc>
                <a:spcBef>
                  <a:spcPct val="0"/>
                </a:spcBef>
              </a:pPr>
              <a:r>
                <a:rPr lang="en-US" b="true" sz="4899">
                  <a:solidFill>
                    <a:srgbClr val="FFFFFF"/>
                  </a:solidFill>
                  <a:latin typeface="Tahoma Bold"/>
                  <a:ea typeface="Tahoma Bold"/>
                  <a:cs typeface="Tahoma Bold"/>
                  <a:sym typeface="Tahoma Bold"/>
                </a:rPr>
                <a:t>Phân tích dữ liệu</a:t>
              </a:r>
            </a:p>
          </p:txBody>
        </p:sp>
      </p:grpSp>
      <p:sp>
        <p:nvSpPr>
          <p:cNvPr name="Freeform 5" id="5"/>
          <p:cNvSpPr/>
          <p:nvPr/>
        </p:nvSpPr>
        <p:spPr>
          <a:xfrm flipH="false" flipV="false" rot="0">
            <a:off x="2270939" y="2554664"/>
            <a:ext cx="13746123" cy="6838696"/>
          </a:xfrm>
          <a:custGeom>
            <a:avLst/>
            <a:gdLst/>
            <a:ahLst/>
            <a:cxnLst/>
            <a:rect r="r" b="b" t="t" l="l"/>
            <a:pathLst>
              <a:path h="6838696" w="13746123">
                <a:moveTo>
                  <a:pt x="0" y="0"/>
                </a:moveTo>
                <a:lnTo>
                  <a:pt x="13746122" y="0"/>
                </a:lnTo>
                <a:lnTo>
                  <a:pt x="13746122" y="6838696"/>
                </a:lnTo>
                <a:lnTo>
                  <a:pt x="0" y="6838696"/>
                </a:lnTo>
                <a:lnTo>
                  <a:pt x="0" y="0"/>
                </a:lnTo>
                <a:close/>
              </a:path>
            </a:pathLst>
          </a:custGeom>
          <a:blipFill>
            <a:blip r:embed="rId2"/>
            <a:stretch>
              <a:fillRect l="0" t="0" r="0" b="0"/>
            </a:stretch>
          </a:blipFill>
        </p:spPr>
      </p:sp>
      <p:sp>
        <p:nvSpPr>
          <p:cNvPr name="TextBox 6" id="6"/>
          <p:cNvSpPr txBox="true"/>
          <p:nvPr/>
        </p:nvSpPr>
        <p:spPr>
          <a:xfrm rot="0">
            <a:off x="17172623" y="9558894"/>
            <a:ext cx="814626" cy="333375"/>
          </a:xfrm>
          <a:prstGeom prst="rect">
            <a:avLst/>
          </a:prstGeom>
        </p:spPr>
        <p:txBody>
          <a:bodyPr anchor="t" rtlCol="false" tIns="0" lIns="0" bIns="0" rIns="0">
            <a:spAutoFit/>
          </a:bodyPr>
          <a:lstStyle/>
          <a:p>
            <a:pPr algn="ctr">
              <a:lnSpc>
                <a:spcPts val="2549"/>
              </a:lnSpc>
              <a:spcBef>
                <a:spcPct val="0"/>
              </a:spcBef>
            </a:pPr>
            <a:r>
              <a:rPr lang="en-US" sz="2499">
                <a:solidFill>
                  <a:srgbClr val="000000"/>
                </a:solidFill>
                <a:latin typeface="Tahoma"/>
                <a:ea typeface="Tahoma"/>
                <a:cs typeface="Tahoma"/>
                <a:sym typeface="Tahoma"/>
              </a:rPr>
              <a:t>12</a:t>
            </a:r>
            <a:r>
              <a:rPr lang="en-US" sz="2499">
                <a:solidFill>
                  <a:srgbClr val="000000"/>
                </a:solidFill>
                <a:latin typeface="Tahoma"/>
                <a:ea typeface="Tahoma"/>
                <a:cs typeface="Tahoma"/>
                <a:sym typeface="Tahoma"/>
              </a:rPr>
              <a:t>/18</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767788"/>
            <a:chOff x="0" y="0"/>
            <a:chExt cx="4816593" cy="465590"/>
          </a:xfrm>
        </p:grpSpPr>
        <p:sp>
          <p:nvSpPr>
            <p:cNvPr name="Freeform 3" id="3"/>
            <p:cNvSpPr/>
            <p:nvPr/>
          </p:nvSpPr>
          <p:spPr>
            <a:xfrm flipH="false" flipV="false" rot="0">
              <a:off x="0" y="0"/>
              <a:ext cx="4816592" cy="465590"/>
            </a:xfrm>
            <a:custGeom>
              <a:avLst/>
              <a:gdLst/>
              <a:ahLst/>
              <a:cxnLst/>
              <a:rect r="r" b="b" t="t" l="l"/>
              <a:pathLst>
                <a:path h="465590" w="4816592">
                  <a:moveTo>
                    <a:pt x="0" y="0"/>
                  </a:moveTo>
                  <a:lnTo>
                    <a:pt x="4816592" y="0"/>
                  </a:lnTo>
                  <a:lnTo>
                    <a:pt x="4816592" y="465590"/>
                  </a:lnTo>
                  <a:lnTo>
                    <a:pt x="0" y="465590"/>
                  </a:lnTo>
                  <a:close/>
                </a:path>
              </a:pathLst>
            </a:custGeom>
            <a:solidFill>
              <a:srgbClr val="4AA0DE"/>
            </a:solidFill>
          </p:spPr>
        </p:sp>
        <p:sp>
          <p:nvSpPr>
            <p:cNvPr name="TextBox 4" id="4"/>
            <p:cNvSpPr txBox="true"/>
            <p:nvPr/>
          </p:nvSpPr>
          <p:spPr>
            <a:xfrm>
              <a:off x="0" y="-85725"/>
              <a:ext cx="4816593" cy="551315"/>
            </a:xfrm>
            <a:prstGeom prst="rect">
              <a:avLst/>
            </a:prstGeom>
          </p:spPr>
          <p:txBody>
            <a:bodyPr anchor="ctr" rtlCol="false" tIns="50800" lIns="50800" bIns="50800" rIns="50800"/>
            <a:lstStyle/>
            <a:p>
              <a:pPr algn="ctr">
                <a:lnSpc>
                  <a:spcPts val="6859"/>
                </a:lnSpc>
                <a:spcBef>
                  <a:spcPct val="0"/>
                </a:spcBef>
              </a:pPr>
              <a:r>
                <a:rPr lang="en-US" b="true" sz="4899">
                  <a:solidFill>
                    <a:srgbClr val="FFFFFF"/>
                  </a:solidFill>
                  <a:latin typeface="Tahoma Bold"/>
                  <a:ea typeface="Tahoma Bold"/>
                  <a:cs typeface="Tahoma Bold"/>
                  <a:sym typeface="Tahoma Bold"/>
                </a:rPr>
                <a:t>Tiền xử lý dữ liệu</a:t>
              </a:r>
            </a:p>
          </p:txBody>
        </p:sp>
      </p:grpSp>
      <p:sp>
        <p:nvSpPr>
          <p:cNvPr name="Freeform 5" id="5"/>
          <p:cNvSpPr/>
          <p:nvPr/>
        </p:nvSpPr>
        <p:spPr>
          <a:xfrm flipH="false" flipV="false" rot="0">
            <a:off x="3353834" y="3664177"/>
            <a:ext cx="11301259" cy="5594123"/>
          </a:xfrm>
          <a:custGeom>
            <a:avLst/>
            <a:gdLst/>
            <a:ahLst/>
            <a:cxnLst/>
            <a:rect r="r" b="b" t="t" l="l"/>
            <a:pathLst>
              <a:path h="5594123" w="11301259">
                <a:moveTo>
                  <a:pt x="0" y="0"/>
                </a:moveTo>
                <a:lnTo>
                  <a:pt x="11301259" y="0"/>
                </a:lnTo>
                <a:lnTo>
                  <a:pt x="11301259" y="5594123"/>
                </a:lnTo>
                <a:lnTo>
                  <a:pt x="0" y="5594123"/>
                </a:lnTo>
                <a:lnTo>
                  <a:pt x="0" y="0"/>
                </a:lnTo>
                <a:close/>
              </a:path>
            </a:pathLst>
          </a:custGeom>
          <a:blipFill>
            <a:blip r:embed="rId2"/>
            <a:stretch>
              <a:fillRect l="0" t="0" r="0" b="0"/>
            </a:stretch>
          </a:blipFill>
        </p:spPr>
      </p:sp>
      <p:sp>
        <p:nvSpPr>
          <p:cNvPr name="TextBox 6" id="6"/>
          <p:cNvSpPr txBox="true"/>
          <p:nvPr/>
        </p:nvSpPr>
        <p:spPr>
          <a:xfrm rot="0">
            <a:off x="0" y="2408770"/>
            <a:ext cx="17557629" cy="1028700"/>
          </a:xfrm>
          <a:prstGeom prst="rect">
            <a:avLst/>
          </a:prstGeom>
        </p:spPr>
        <p:txBody>
          <a:bodyPr anchor="t" rtlCol="false" tIns="0" lIns="0" bIns="0" rIns="0">
            <a:spAutoFit/>
          </a:bodyPr>
          <a:lstStyle/>
          <a:p>
            <a:pPr algn="l" marL="647697" indent="-323848" lvl="1">
              <a:lnSpc>
                <a:spcPts val="4199"/>
              </a:lnSpc>
              <a:buFont typeface="Arial"/>
              <a:buChar char="•"/>
            </a:pPr>
            <a:r>
              <a:rPr lang="en-US" sz="2999">
                <a:solidFill>
                  <a:srgbClr val="000000"/>
                </a:solidFill>
                <a:latin typeface="Tahoma"/>
                <a:ea typeface="Tahoma"/>
                <a:cs typeface="Tahoma"/>
                <a:sym typeface="Tahoma"/>
              </a:rPr>
              <a:t>Feature Scalling: Standardization là một kỹ thuật điều chỉnh trong đó các giá trị trung bình bằng 0 với độ lệch chuẩn bằng một</a:t>
            </a:r>
          </a:p>
        </p:txBody>
      </p:sp>
      <p:sp>
        <p:nvSpPr>
          <p:cNvPr name="TextBox 7" id="7"/>
          <p:cNvSpPr txBox="true"/>
          <p:nvPr/>
        </p:nvSpPr>
        <p:spPr>
          <a:xfrm rot="0">
            <a:off x="17172623" y="9558894"/>
            <a:ext cx="814626" cy="333375"/>
          </a:xfrm>
          <a:prstGeom prst="rect">
            <a:avLst/>
          </a:prstGeom>
        </p:spPr>
        <p:txBody>
          <a:bodyPr anchor="t" rtlCol="false" tIns="0" lIns="0" bIns="0" rIns="0">
            <a:spAutoFit/>
          </a:bodyPr>
          <a:lstStyle/>
          <a:p>
            <a:pPr algn="ctr">
              <a:lnSpc>
                <a:spcPts val="2549"/>
              </a:lnSpc>
              <a:spcBef>
                <a:spcPct val="0"/>
              </a:spcBef>
            </a:pPr>
            <a:r>
              <a:rPr lang="en-US" sz="2499">
                <a:solidFill>
                  <a:srgbClr val="000000"/>
                </a:solidFill>
                <a:latin typeface="Tahoma"/>
                <a:ea typeface="Tahoma"/>
                <a:cs typeface="Tahoma"/>
                <a:sym typeface="Tahoma"/>
              </a:rPr>
              <a:t>13</a:t>
            </a:r>
            <a:r>
              <a:rPr lang="en-US" sz="2499">
                <a:solidFill>
                  <a:srgbClr val="000000"/>
                </a:solidFill>
                <a:latin typeface="Tahoma"/>
                <a:ea typeface="Tahoma"/>
                <a:cs typeface="Tahoma"/>
                <a:sym typeface="Tahoma"/>
              </a:rPr>
              <a:t>/18</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767788"/>
            <a:chOff x="0" y="0"/>
            <a:chExt cx="4816593" cy="465590"/>
          </a:xfrm>
        </p:grpSpPr>
        <p:sp>
          <p:nvSpPr>
            <p:cNvPr name="Freeform 3" id="3"/>
            <p:cNvSpPr/>
            <p:nvPr/>
          </p:nvSpPr>
          <p:spPr>
            <a:xfrm flipH="false" flipV="false" rot="0">
              <a:off x="0" y="0"/>
              <a:ext cx="4816592" cy="465590"/>
            </a:xfrm>
            <a:custGeom>
              <a:avLst/>
              <a:gdLst/>
              <a:ahLst/>
              <a:cxnLst/>
              <a:rect r="r" b="b" t="t" l="l"/>
              <a:pathLst>
                <a:path h="465590" w="4816592">
                  <a:moveTo>
                    <a:pt x="0" y="0"/>
                  </a:moveTo>
                  <a:lnTo>
                    <a:pt x="4816592" y="0"/>
                  </a:lnTo>
                  <a:lnTo>
                    <a:pt x="4816592" y="465590"/>
                  </a:lnTo>
                  <a:lnTo>
                    <a:pt x="0" y="465590"/>
                  </a:lnTo>
                  <a:close/>
                </a:path>
              </a:pathLst>
            </a:custGeom>
            <a:solidFill>
              <a:srgbClr val="4AA0DE"/>
            </a:solidFill>
          </p:spPr>
        </p:sp>
        <p:sp>
          <p:nvSpPr>
            <p:cNvPr name="TextBox 4" id="4"/>
            <p:cNvSpPr txBox="true"/>
            <p:nvPr/>
          </p:nvSpPr>
          <p:spPr>
            <a:xfrm>
              <a:off x="0" y="-85725"/>
              <a:ext cx="4816593" cy="551315"/>
            </a:xfrm>
            <a:prstGeom prst="rect">
              <a:avLst/>
            </a:prstGeom>
          </p:spPr>
          <p:txBody>
            <a:bodyPr anchor="ctr" rtlCol="false" tIns="50800" lIns="50800" bIns="50800" rIns="50800"/>
            <a:lstStyle/>
            <a:p>
              <a:pPr algn="ctr">
                <a:lnSpc>
                  <a:spcPts val="6859"/>
                </a:lnSpc>
                <a:spcBef>
                  <a:spcPct val="0"/>
                </a:spcBef>
              </a:pPr>
              <a:r>
                <a:rPr lang="en-US" b="true" sz="4899">
                  <a:solidFill>
                    <a:srgbClr val="FFFFFF"/>
                  </a:solidFill>
                  <a:latin typeface="Tahoma Bold"/>
                  <a:ea typeface="Tahoma Bold"/>
                  <a:cs typeface="Tahoma Bold"/>
                  <a:sym typeface="Tahoma Bold"/>
                </a:rPr>
                <a:t>Tiền xử lý dữ liệu</a:t>
              </a:r>
            </a:p>
          </p:txBody>
        </p:sp>
      </p:grpSp>
      <p:sp>
        <p:nvSpPr>
          <p:cNvPr name="Freeform 5" id="5"/>
          <p:cNvSpPr/>
          <p:nvPr/>
        </p:nvSpPr>
        <p:spPr>
          <a:xfrm flipH="false" flipV="false" rot="0">
            <a:off x="5070322" y="4765820"/>
            <a:ext cx="8147355" cy="4582887"/>
          </a:xfrm>
          <a:custGeom>
            <a:avLst/>
            <a:gdLst/>
            <a:ahLst/>
            <a:cxnLst/>
            <a:rect r="r" b="b" t="t" l="l"/>
            <a:pathLst>
              <a:path h="4582887" w="8147355">
                <a:moveTo>
                  <a:pt x="0" y="0"/>
                </a:moveTo>
                <a:lnTo>
                  <a:pt x="8147356" y="0"/>
                </a:lnTo>
                <a:lnTo>
                  <a:pt x="8147356" y="4582888"/>
                </a:lnTo>
                <a:lnTo>
                  <a:pt x="0" y="4582888"/>
                </a:lnTo>
                <a:lnTo>
                  <a:pt x="0" y="0"/>
                </a:lnTo>
                <a:close/>
              </a:path>
            </a:pathLst>
          </a:custGeom>
          <a:blipFill>
            <a:blip r:embed="rId3"/>
            <a:stretch>
              <a:fillRect l="0" t="0" r="0" b="0"/>
            </a:stretch>
          </a:blipFill>
        </p:spPr>
      </p:sp>
      <p:sp>
        <p:nvSpPr>
          <p:cNvPr name="TextBox 6" id="6"/>
          <p:cNvSpPr txBox="true"/>
          <p:nvPr/>
        </p:nvSpPr>
        <p:spPr>
          <a:xfrm rot="0">
            <a:off x="353236" y="2117870"/>
            <a:ext cx="15566007" cy="26479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000000"/>
                </a:solidFill>
                <a:latin typeface="Tahoma"/>
                <a:ea typeface="Tahoma"/>
                <a:cs typeface="Tahoma"/>
                <a:sym typeface="Tahoma"/>
              </a:rPr>
              <a:t>SMOTE là v</a:t>
            </a:r>
            <a:r>
              <a:rPr lang="en-US" sz="3000">
                <a:solidFill>
                  <a:srgbClr val="000000"/>
                </a:solidFill>
                <a:latin typeface="Tahoma"/>
                <a:ea typeface="Tahoma"/>
                <a:cs typeface="Tahoma"/>
                <a:sym typeface="Tahoma"/>
              </a:rPr>
              <a:t>iết tắt của Synthetic Minority Over-sampling TEchnique (Kỹ thuật Quá lấy mẫu Thiểu số Tổng hợp)</a:t>
            </a:r>
          </a:p>
          <a:p>
            <a:pPr algn="l" marL="647700" indent="-323850" lvl="1">
              <a:lnSpc>
                <a:spcPts val="4200"/>
              </a:lnSpc>
              <a:spcBef>
                <a:spcPct val="0"/>
              </a:spcBef>
              <a:buFont typeface="Arial"/>
              <a:buChar char="•"/>
            </a:pPr>
            <a:r>
              <a:rPr lang="en-US" sz="3000">
                <a:solidFill>
                  <a:srgbClr val="000000"/>
                </a:solidFill>
                <a:latin typeface="Tahoma"/>
                <a:ea typeface="Tahoma"/>
                <a:cs typeface="Tahoma"/>
                <a:sym typeface="Tahoma"/>
              </a:rPr>
              <a:t>Đây là một kỹ thuật phổ biến trong Học máy (Machine Learning) để giải quyết vấn đề Dữ liệu mất cân bằng (Imbalanced Data)</a:t>
            </a:r>
          </a:p>
          <a:p>
            <a:pPr algn="l">
              <a:lnSpc>
                <a:spcPts val="4200"/>
              </a:lnSpc>
              <a:spcBef>
                <a:spcPct val="0"/>
              </a:spcBef>
            </a:pPr>
          </a:p>
        </p:txBody>
      </p:sp>
      <p:sp>
        <p:nvSpPr>
          <p:cNvPr name="TextBox 7" id="7"/>
          <p:cNvSpPr txBox="true"/>
          <p:nvPr/>
        </p:nvSpPr>
        <p:spPr>
          <a:xfrm rot="0">
            <a:off x="17172623" y="9558894"/>
            <a:ext cx="814626" cy="333375"/>
          </a:xfrm>
          <a:prstGeom prst="rect">
            <a:avLst/>
          </a:prstGeom>
        </p:spPr>
        <p:txBody>
          <a:bodyPr anchor="t" rtlCol="false" tIns="0" lIns="0" bIns="0" rIns="0">
            <a:spAutoFit/>
          </a:bodyPr>
          <a:lstStyle/>
          <a:p>
            <a:pPr algn="ctr">
              <a:lnSpc>
                <a:spcPts val="2549"/>
              </a:lnSpc>
              <a:spcBef>
                <a:spcPct val="0"/>
              </a:spcBef>
            </a:pPr>
            <a:r>
              <a:rPr lang="en-US" sz="2499">
                <a:solidFill>
                  <a:srgbClr val="000000"/>
                </a:solidFill>
                <a:latin typeface="Tahoma"/>
                <a:ea typeface="Tahoma"/>
                <a:cs typeface="Tahoma"/>
                <a:sym typeface="Tahoma"/>
              </a:rPr>
              <a:t>14</a:t>
            </a:r>
            <a:r>
              <a:rPr lang="en-US" sz="2499">
                <a:solidFill>
                  <a:srgbClr val="000000"/>
                </a:solidFill>
                <a:latin typeface="Tahoma"/>
                <a:ea typeface="Tahoma"/>
                <a:cs typeface="Tahoma"/>
                <a:sym typeface="Tahoma"/>
              </a:rPr>
              <a:t>/18</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767788"/>
            <a:chOff x="0" y="0"/>
            <a:chExt cx="4816593" cy="465590"/>
          </a:xfrm>
        </p:grpSpPr>
        <p:sp>
          <p:nvSpPr>
            <p:cNvPr name="Freeform 3" id="3"/>
            <p:cNvSpPr/>
            <p:nvPr/>
          </p:nvSpPr>
          <p:spPr>
            <a:xfrm flipH="false" flipV="false" rot="0">
              <a:off x="0" y="0"/>
              <a:ext cx="4816592" cy="465590"/>
            </a:xfrm>
            <a:custGeom>
              <a:avLst/>
              <a:gdLst/>
              <a:ahLst/>
              <a:cxnLst/>
              <a:rect r="r" b="b" t="t" l="l"/>
              <a:pathLst>
                <a:path h="465590" w="4816592">
                  <a:moveTo>
                    <a:pt x="0" y="0"/>
                  </a:moveTo>
                  <a:lnTo>
                    <a:pt x="4816592" y="0"/>
                  </a:lnTo>
                  <a:lnTo>
                    <a:pt x="4816592" y="465590"/>
                  </a:lnTo>
                  <a:lnTo>
                    <a:pt x="0" y="465590"/>
                  </a:lnTo>
                  <a:close/>
                </a:path>
              </a:pathLst>
            </a:custGeom>
            <a:solidFill>
              <a:srgbClr val="4AA0DE"/>
            </a:solidFill>
          </p:spPr>
        </p:sp>
        <p:sp>
          <p:nvSpPr>
            <p:cNvPr name="TextBox 4" id="4"/>
            <p:cNvSpPr txBox="true"/>
            <p:nvPr/>
          </p:nvSpPr>
          <p:spPr>
            <a:xfrm>
              <a:off x="0" y="-85725"/>
              <a:ext cx="4816593" cy="551315"/>
            </a:xfrm>
            <a:prstGeom prst="rect">
              <a:avLst/>
            </a:prstGeom>
          </p:spPr>
          <p:txBody>
            <a:bodyPr anchor="ctr" rtlCol="false" tIns="50800" lIns="50800" bIns="50800" rIns="50800"/>
            <a:lstStyle/>
            <a:p>
              <a:pPr algn="ctr">
                <a:lnSpc>
                  <a:spcPts val="6859"/>
                </a:lnSpc>
                <a:spcBef>
                  <a:spcPct val="0"/>
                </a:spcBef>
              </a:pPr>
              <a:r>
                <a:rPr lang="en-US" b="true" sz="4899">
                  <a:solidFill>
                    <a:srgbClr val="FFFFFF"/>
                  </a:solidFill>
                  <a:latin typeface="Tahoma Bold"/>
                  <a:ea typeface="Tahoma Bold"/>
                  <a:cs typeface="Tahoma Bold"/>
                  <a:sym typeface="Tahoma Bold"/>
                </a:rPr>
                <a:t>Cài đặt mô hình</a:t>
              </a:r>
            </a:p>
          </p:txBody>
        </p:sp>
      </p:grpSp>
      <p:sp>
        <p:nvSpPr>
          <p:cNvPr name="Freeform 5" id="5"/>
          <p:cNvSpPr/>
          <p:nvPr/>
        </p:nvSpPr>
        <p:spPr>
          <a:xfrm flipH="false" flipV="false" rot="0">
            <a:off x="9157024" y="3585707"/>
            <a:ext cx="8102276" cy="3677525"/>
          </a:xfrm>
          <a:custGeom>
            <a:avLst/>
            <a:gdLst/>
            <a:ahLst/>
            <a:cxnLst/>
            <a:rect r="r" b="b" t="t" l="l"/>
            <a:pathLst>
              <a:path h="3677525" w="8102276">
                <a:moveTo>
                  <a:pt x="0" y="0"/>
                </a:moveTo>
                <a:lnTo>
                  <a:pt x="8102276" y="0"/>
                </a:lnTo>
                <a:lnTo>
                  <a:pt x="8102276" y="3677525"/>
                </a:lnTo>
                <a:lnTo>
                  <a:pt x="0" y="3677525"/>
                </a:lnTo>
                <a:lnTo>
                  <a:pt x="0" y="0"/>
                </a:lnTo>
                <a:close/>
              </a:path>
            </a:pathLst>
          </a:custGeom>
          <a:blipFill>
            <a:blip r:embed="rId2"/>
            <a:stretch>
              <a:fillRect l="0" t="0" r="0" b="0"/>
            </a:stretch>
          </a:blipFill>
        </p:spPr>
      </p:sp>
      <p:sp>
        <p:nvSpPr>
          <p:cNvPr name="Freeform 6" id="6"/>
          <p:cNvSpPr/>
          <p:nvPr/>
        </p:nvSpPr>
        <p:spPr>
          <a:xfrm flipH="false" flipV="false" rot="0">
            <a:off x="656888" y="3585707"/>
            <a:ext cx="7512285" cy="3763190"/>
          </a:xfrm>
          <a:custGeom>
            <a:avLst/>
            <a:gdLst/>
            <a:ahLst/>
            <a:cxnLst/>
            <a:rect r="r" b="b" t="t" l="l"/>
            <a:pathLst>
              <a:path h="3763190" w="7512285">
                <a:moveTo>
                  <a:pt x="0" y="0"/>
                </a:moveTo>
                <a:lnTo>
                  <a:pt x="7512285" y="0"/>
                </a:lnTo>
                <a:lnTo>
                  <a:pt x="7512285" y="3763190"/>
                </a:lnTo>
                <a:lnTo>
                  <a:pt x="0" y="3763190"/>
                </a:lnTo>
                <a:lnTo>
                  <a:pt x="0" y="0"/>
                </a:lnTo>
                <a:close/>
              </a:path>
            </a:pathLst>
          </a:custGeom>
          <a:blipFill>
            <a:blip r:embed="rId3"/>
            <a:stretch>
              <a:fillRect l="0" t="0" r="0" b="0"/>
            </a:stretch>
          </a:blipFill>
        </p:spPr>
      </p:sp>
      <p:sp>
        <p:nvSpPr>
          <p:cNvPr name="TextBox 7" id="7"/>
          <p:cNvSpPr txBox="true"/>
          <p:nvPr/>
        </p:nvSpPr>
        <p:spPr>
          <a:xfrm rot="0">
            <a:off x="17201198" y="9558894"/>
            <a:ext cx="814626" cy="333375"/>
          </a:xfrm>
          <a:prstGeom prst="rect">
            <a:avLst/>
          </a:prstGeom>
        </p:spPr>
        <p:txBody>
          <a:bodyPr anchor="t" rtlCol="false" tIns="0" lIns="0" bIns="0" rIns="0">
            <a:spAutoFit/>
          </a:bodyPr>
          <a:lstStyle/>
          <a:p>
            <a:pPr algn="ctr">
              <a:lnSpc>
                <a:spcPts val="2549"/>
              </a:lnSpc>
              <a:spcBef>
                <a:spcPct val="0"/>
              </a:spcBef>
            </a:pPr>
            <a:r>
              <a:rPr lang="en-US" sz="2499">
                <a:solidFill>
                  <a:srgbClr val="000000"/>
                </a:solidFill>
                <a:latin typeface="Tahoma"/>
                <a:ea typeface="Tahoma"/>
                <a:cs typeface="Tahoma"/>
                <a:sym typeface="Tahoma"/>
              </a:rPr>
              <a:t>15</a:t>
            </a:r>
            <a:r>
              <a:rPr lang="en-US" sz="2499">
                <a:solidFill>
                  <a:srgbClr val="000000"/>
                </a:solidFill>
                <a:latin typeface="Tahoma"/>
                <a:ea typeface="Tahoma"/>
                <a:cs typeface="Tahoma"/>
                <a:sym typeface="Tahoma"/>
              </a:rPr>
              <a:t>/18</a:t>
            </a:r>
          </a:p>
        </p:txBody>
      </p:sp>
      <p:sp>
        <p:nvSpPr>
          <p:cNvPr name="TextBox 8" id="8"/>
          <p:cNvSpPr txBox="true"/>
          <p:nvPr/>
        </p:nvSpPr>
        <p:spPr>
          <a:xfrm rot="0">
            <a:off x="9293007" y="2802131"/>
            <a:ext cx="3116104" cy="514350"/>
          </a:xfrm>
          <a:prstGeom prst="rect">
            <a:avLst/>
          </a:prstGeom>
        </p:spPr>
        <p:txBody>
          <a:bodyPr anchor="t" rtlCol="false" tIns="0" lIns="0" bIns="0" rIns="0">
            <a:spAutoFit/>
          </a:bodyPr>
          <a:lstStyle/>
          <a:p>
            <a:pPr algn="ctr">
              <a:lnSpc>
                <a:spcPts val="4200"/>
              </a:lnSpc>
              <a:spcBef>
                <a:spcPct val="0"/>
              </a:spcBef>
            </a:pPr>
            <a:r>
              <a:rPr lang="en-US" sz="3000">
                <a:solidFill>
                  <a:srgbClr val="000000"/>
                </a:solidFill>
                <a:latin typeface="Tahoma"/>
                <a:ea typeface="Tahoma"/>
                <a:cs typeface="Tahoma"/>
                <a:sym typeface="Tahoma"/>
              </a:rPr>
              <a:t>RF áp dụng Smote</a:t>
            </a:r>
          </a:p>
        </p:txBody>
      </p:sp>
      <p:sp>
        <p:nvSpPr>
          <p:cNvPr name="TextBox 9" id="9"/>
          <p:cNvSpPr txBox="true"/>
          <p:nvPr/>
        </p:nvSpPr>
        <p:spPr>
          <a:xfrm rot="0">
            <a:off x="656888" y="2725931"/>
            <a:ext cx="4054555" cy="514350"/>
          </a:xfrm>
          <a:prstGeom prst="rect">
            <a:avLst/>
          </a:prstGeom>
        </p:spPr>
        <p:txBody>
          <a:bodyPr anchor="t" rtlCol="false" tIns="0" lIns="0" bIns="0" rIns="0">
            <a:spAutoFit/>
          </a:bodyPr>
          <a:lstStyle/>
          <a:p>
            <a:pPr algn="ctr">
              <a:lnSpc>
                <a:spcPts val="4200"/>
              </a:lnSpc>
              <a:spcBef>
                <a:spcPct val="0"/>
              </a:spcBef>
            </a:pPr>
            <a:r>
              <a:rPr lang="en-US" sz="3000">
                <a:solidFill>
                  <a:srgbClr val="000000"/>
                </a:solidFill>
                <a:latin typeface="Tahoma"/>
                <a:ea typeface="Tahoma"/>
                <a:cs typeface="Tahoma"/>
                <a:sym typeface="Tahoma"/>
              </a:rPr>
              <a:t>RF chưa áp dụng Smote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767788"/>
            <a:chOff x="0" y="0"/>
            <a:chExt cx="4816593" cy="465590"/>
          </a:xfrm>
        </p:grpSpPr>
        <p:sp>
          <p:nvSpPr>
            <p:cNvPr name="Freeform 3" id="3"/>
            <p:cNvSpPr/>
            <p:nvPr/>
          </p:nvSpPr>
          <p:spPr>
            <a:xfrm flipH="false" flipV="false" rot="0">
              <a:off x="0" y="0"/>
              <a:ext cx="4816592" cy="465590"/>
            </a:xfrm>
            <a:custGeom>
              <a:avLst/>
              <a:gdLst/>
              <a:ahLst/>
              <a:cxnLst/>
              <a:rect r="r" b="b" t="t" l="l"/>
              <a:pathLst>
                <a:path h="465590" w="4816592">
                  <a:moveTo>
                    <a:pt x="0" y="0"/>
                  </a:moveTo>
                  <a:lnTo>
                    <a:pt x="4816592" y="0"/>
                  </a:lnTo>
                  <a:lnTo>
                    <a:pt x="4816592" y="465590"/>
                  </a:lnTo>
                  <a:lnTo>
                    <a:pt x="0" y="465590"/>
                  </a:lnTo>
                  <a:close/>
                </a:path>
              </a:pathLst>
            </a:custGeom>
            <a:solidFill>
              <a:srgbClr val="4AA0DE"/>
            </a:solidFill>
          </p:spPr>
        </p:sp>
        <p:sp>
          <p:nvSpPr>
            <p:cNvPr name="TextBox 4" id="4"/>
            <p:cNvSpPr txBox="true"/>
            <p:nvPr/>
          </p:nvSpPr>
          <p:spPr>
            <a:xfrm>
              <a:off x="0" y="-85725"/>
              <a:ext cx="4816593" cy="551315"/>
            </a:xfrm>
            <a:prstGeom prst="rect">
              <a:avLst/>
            </a:prstGeom>
          </p:spPr>
          <p:txBody>
            <a:bodyPr anchor="ctr" rtlCol="false" tIns="50800" lIns="50800" bIns="50800" rIns="50800"/>
            <a:lstStyle/>
            <a:p>
              <a:pPr algn="ctr">
                <a:lnSpc>
                  <a:spcPts val="6859"/>
                </a:lnSpc>
                <a:spcBef>
                  <a:spcPct val="0"/>
                </a:spcBef>
              </a:pPr>
              <a:r>
                <a:rPr lang="en-US" b="true" sz="4899">
                  <a:solidFill>
                    <a:srgbClr val="FFFFFF"/>
                  </a:solidFill>
                  <a:latin typeface="Tahoma Bold"/>
                  <a:ea typeface="Tahoma Bold"/>
                  <a:cs typeface="Tahoma Bold"/>
                  <a:sym typeface="Tahoma Bold"/>
                </a:rPr>
                <a:t>Cài đặt mô hình</a:t>
              </a:r>
            </a:p>
          </p:txBody>
        </p:sp>
      </p:grpSp>
      <p:sp>
        <p:nvSpPr>
          <p:cNvPr name="Freeform 5" id="5"/>
          <p:cNvSpPr/>
          <p:nvPr/>
        </p:nvSpPr>
        <p:spPr>
          <a:xfrm flipH="false" flipV="false" rot="0">
            <a:off x="709528" y="3676349"/>
            <a:ext cx="7885683" cy="3442843"/>
          </a:xfrm>
          <a:custGeom>
            <a:avLst/>
            <a:gdLst/>
            <a:ahLst/>
            <a:cxnLst/>
            <a:rect r="r" b="b" t="t" l="l"/>
            <a:pathLst>
              <a:path h="3442843" w="7885683">
                <a:moveTo>
                  <a:pt x="0" y="0"/>
                </a:moveTo>
                <a:lnTo>
                  <a:pt x="7885683" y="0"/>
                </a:lnTo>
                <a:lnTo>
                  <a:pt x="7885683" y="3442843"/>
                </a:lnTo>
                <a:lnTo>
                  <a:pt x="0" y="3442843"/>
                </a:lnTo>
                <a:lnTo>
                  <a:pt x="0" y="0"/>
                </a:lnTo>
                <a:close/>
              </a:path>
            </a:pathLst>
          </a:custGeom>
          <a:blipFill>
            <a:blip r:embed="rId2"/>
            <a:stretch>
              <a:fillRect l="0" t="0" r="0" b="0"/>
            </a:stretch>
          </a:blipFill>
        </p:spPr>
      </p:sp>
      <p:sp>
        <p:nvSpPr>
          <p:cNvPr name="Freeform 6" id="6"/>
          <p:cNvSpPr/>
          <p:nvPr/>
        </p:nvSpPr>
        <p:spPr>
          <a:xfrm flipH="false" flipV="false" rot="0">
            <a:off x="9335070" y="3623634"/>
            <a:ext cx="7837553" cy="3548274"/>
          </a:xfrm>
          <a:custGeom>
            <a:avLst/>
            <a:gdLst/>
            <a:ahLst/>
            <a:cxnLst/>
            <a:rect r="r" b="b" t="t" l="l"/>
            <a:pathLst>
              <a:path h="3548274" w="7837553">
                <a:moveTo>
                  <a:pt x="0" y="0"/>
                </a:moveTo>
                <a:lnTo>
                  <a:pt x="7837553" y="0"/>
                </a:lnTo>
                <a:lnTo>
                  <a:pt x="7837553" y="3548273"/>
                </a:lnTo>
                <a:lnTo>
                  <a:pt x="0" y="3548273"/>
                </a:lnTo>
                <a:lnTo>
                  <a:pt x="0" y="0"/>
                </a:lnTo>
                <a:close/>
              </a:path>
            </a:pathLst>
          </a:custGeom>
          <a:blipFill>
            <a:blip r:embed="rId3"/>
            <a:stretch>
              <a:fillRect l="0" t="0" r="0" b="0"/>
            </a:stretch>
          </a:blipFill>
        </p:spPr>
      </p:sp>
      <p:sp>
        <p:nvSpPr>
          <p:cNvPr name="TextBox 7" id="7"/>
          <p:cNvSpPr txBox="true"/>
          <p:nvPr/>
        </p:nvSpPr>
        <p:spPr>
          <a:xfrm rot="0">
            <a:off x="709528" y="2772408"/>
            <a:ext cx="3414117" cy="514350"/>
          </a:xfrm>
          <a:prstGeom prst="rect">
            <a:avLst/>
          </a:prstGeom>
        </p:spPr>
        <p:txBody>
          <a:bodyPr anchor="t" rtlCol="false" tIns="0" lIns="0" bIns="0" rIns="0">
            <a:spAutoFit/>
          </a:bodyPr>
          <a:lstStyle/>
          <a:p>
            <a:pPr algn="ctr">
              <a:lnSpc>
                <a:spcPts val="4200"/>
              </a:lnSpc>
              <a:spcBef>
                <a:spcPct val="0"/>
              </a:spcBef>
            </a:pPr>
            <a:r>
              <a:rPr lang="en-US" sz="3000">
                <a:solidFill>
                  <a:srgbClr val="000000"/>
                </a:solidFill>
                <a:latin typeface="Tahoma"/>
                <a:ea typeface="Tahoma"/>
                <a:cs typeface="Tahoma"/>
                <a:sym typeface="Tahoma"/>
              </a:rPr>
              <a:t>SVM áp dụng Smote</a:t>
            </a:r>
          </a:p>
        </p:txBody>
      </p:sp>
      <p:sp>
        <p:nvSpPr>
          <p:cNvPr name="TextBox 8" id="8"/>
          <p:cNvSpPr txBox="true"/>
          <p:nvPr/>
        </p:nvSpPr>
        <p:spPr>
          <a:xfrm rot="0">
            <a:off x="9423260" y="2734308"/>
            <a:ext cx="4352568" cy="514350"/>
          </a:xfrm>
          <a:prstGeom prst="rect">
            <a:avLst/>
          </a:prstGeom>
        </p:spPr>
        <p:txBody>
          <a:bodyPr anchor="t" rtlCol="false" tIns="0" lIns="0" bIns="0" rIns="0">
            <a:spAutoFit/>
          </a:bodyPr>
          <a:lstStyle/>
          <a:p>
            <a:pPr algn="ctr">
              <a:lnSpc>
                <a:spcPts val="4200"/>
              </a:lnSpc>
              <a:spcBef>
                <a:spcPct val="0"/>
              </a:spcBef>
            </a:pPr>
            <a:r>
              <a:rPr lang="en-US" sz="3000">
                <a:solidFill>
                  <a:srgbClr val="000000"/>
                </a:solidFill>
                <a:latin typeface="Tahoma"/>
                <a:ea typeface="Tahoma"/>
                <a:cs typeface="Tahoma"/>
                <a:sym typeface="Tahoma"/>
              </a:rPr>
              <a:t>SVM chưa áp dụng Smote</a:t>
            </a:r>
          </a:p>
        </p:txBody>
      </p:sp>
      <p:sp>
        <p:nvSpPr>
          <p:cNvPr name="TextBox 9" id="9"/>
          <p:cNvSpPr txBox="true"/>
          <p:nvPr/>
        </p:nvSpPr>
        <p:spPr>
          <a:xfrm rot="0">
            <a:off x="17172623" y="9558894"/>
            <a:ext cx="814626" cy="333375"/>
          </a:xfrm>
          <a:prstGeom prst="rect">
            <a:avLst/>
          </a:prstGeom>
        </p:spPr>
        <p:txBody>
          <a:bodyPr anchor="t" rtlCol="false" tIns="0" lIns="0" bIns="0" rIns="0">
            <a:spAutoFit/>
          </a:bodyPr>
          <a:lstStyle/>
          <a:p>
            <a:pPr algn="ctr">
              <a:lnSpc>
                <a:spcPts val="2549"/>
              </a:lnSpc>
              <a:spcBef>
                <a:spcPct val="0"/>
              </a:spcBef>
            </a:pPr>
            <a:r>
              <a:rPr lang="en-US" sz="2499">
                <a:solidFill>
                  <a:srgbClr val="000000"/>
                </a:solidFill>
                <a:latin typeface="Tahoma"/>
                <a:ea typeface="Tahoma"/>
                <a:cs typeface="Tahoma"/>
                <a:sym typeface="Tahoma"/>
              </a:rPr>
              <a:t>16</a:t>
            </a:r>
            <a:r>
              <a:rPr lang="en-US" sz="2499">
                <a:solidFill>
                  <a:srgbClr val="000000"/>
                </a:solidFill>
                <a:latin typeface="Tahoma"/>
                <a:ea typeface="Tahoma"/>
                <a:cs typeface="Tahoma"/>
                <a:sym typeface="Tahoma"/>
              </a:rPr>
              <a:t>/18</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767788"/>
            <a:chOff x="0" y="0"/>
            <a:chExt cx="4816593" cy="465590"/>
          </a:xfrm>
        </p:grpSpPr>
        <p:sp>
          <p:nvSpPr>
            <p:cNvPr name="Freeform 3" id="3"/>
            <p:cNvSpPr/>
            <p:nvPr/>
          </p:nvSpPr>
          <p:spPr>
            <a:xfrm flipH="false" flipV="false" rot="0">
              <a:off x="0" y="0"/>
              <a:ext cx="4816592" cy="465590"/>
            </a:xfrm>
            <a:custGeom>
              <a:avLst/>
              <a:gdLst/>
              <a:ahLst/>
              <a:cxnLst/>
              <a:rect r="r" b="b" t="t" l="l"/>
              <a:pathLst>
                <a:path h="465590" w="4816592">
                  <a:moveTo>
                    <a:pt x="0" y="0"/>
                  </a:moveTo>
                  <a:lnTo>
                    <a:pt x="4816592" y="0"/>
                  </a:lnTo>
                  <a:lnTo>
                    <a:pt x="4816592" y="465590"/>
                  </a:lnTo>
                  <a:lnTo>
                    <a:pt x="0" y="465590"/>
                  </a:lnTo>
                  <a:close/>
                </a:path>
              </a:pathLst>
            </a:custGeom>
            <a:solidFill>
              <a:srgbClr val="4AA0DE"/>
            </a:solidFill>
          </p:spPr>
        </p:sp>
        <p:sp>
          <p:nvSpPr>
            <p:cNvPr name="TextBox 4" id="4"/>
            <p:cNvSpPr txBox="true"/>
            <p:nvPr/>
          </p:nvSpPr>
          <p:spPr>
            <a:xfrm>
              <a:off x="0" y="-85725"/>
              <a:ext cx="4816593" cy="551315"/>
            </a:xfrm>
            <a:prstGeom prst="rect">
              <a:avLst/>
            </a:prstGeom>
          </p:spPr>
          <p:txBody>
            <a:bodyPr anchor="ctr" rtlCol="false" tIns="50800" lIns="50800" bIns="50800" rIns="50800"/>
            <a:lstStyle/>
            <a:p>
              <a:pPr algn="ctr">
                <a:lnSpc>
                  <a:spcPts val="6859"/>
                </a:lnSpc>
                <a:spcBef>
                  <a:spcPct val="0"/>
                </a:spcBef>
              </a:pPr>
              <a:r>
                <a:rPr lang="en-US" b="true" sz="4899">
                  <a:solidFill>
                    <a:srgbClr val="FFFFFF"/>
                  </a:solidFill>
                  <a:latin typeface="Tahoma Bold"/>
                  <a:ea typeface="Tahoma Bold"/>
                  <a:cs typeface="Tahoma Bold"/>
                  <a:sym typeface="Tahoma Bold"/>
                </a:rPr>
                <a:t>Demo chương trình</a:t>
              </a:r>
            </a:p>
          </p:txBody>
        </p:sp>
      </p:grpSp>
      <p:sp>
        <p:nvSpPr>
          <p:cNvPr name="TextBox 5" id="5"/>
          <p:cNvSpPr txBox="true"/>
          <p:nvPr/>
        </p:nvSpPr>
        <p:spPr>
          <a:xfrm rot="0">
            <a:off x="17172623" y="9558894"/>
            <a:ext cx="814626" cy="333375"/>
          </a:xfrm>
          <a:prstGeom prst="rect">
            <a:avLst/>
          </a:prstGeom>
        </p:spPr>
        <p:txBody>
          <a:bodyPr anchor="t" rtlCol="false" tIns="0" lIns="0" bIns="0" rIns="0">
            <a:spAutoFit/>
          </a:bodyPr>
          <a:lstStyle/>
          <a:p>
            <a:pPr algn="ctr">
              <a:lnSpc>
                <a:spcPts val="2549"/>
              </a:lnSpc>
              <a:spcBef>
                <a:spcPct val="0"/>
              </a:spcBef>
            </a:pPr>
            <a:r>
              <a:rPr lang="en-US" sz="2499">
                <a:solidFill>
                  <a:srgbClr val="000000"/>
                </a:solidFill>
                <a:latin typeface="Tahoma"/>
                <a:ea typeface="Tahoma"/>
                <a:cs typeface="Tahoma"/>
                <a:sym typeface="Tahoma"/>
              </a:rPr>
              <a:t>17</a:t>
            </a:r>
            <a:r>
              <a:rPr lang="en-US" sz="2499">
                <a:solidFill>
                  <a:srgbClr val="000000"/>
                </a:solidFill>
                <a:latin typeface="Tahoma"/>
                <a:ea typeface="Tahoma"/>
                <a:cs typeface="Tahoma"/>
                <a:sym typeface="Tahoma"/>
              </a:rPr>
              <a:t>/18</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548134" y="3062037"/>
            <a:ext cx="7191733" cy="1543052"/>
          </a:xfrm>
          <a:prstGeom prst="rect">
            <a:avLst/>
          </a:prstGeom>
        </p:spPr>
        <p:txBody>
          <a:bodyPr anchor="t" rtlCol="false" tIns="0" lIns="0" bIns="0" rIns="0">
            <a:spAutoFit/>
          </a:bodyPr>
          <a:lstStyle/>
          <a:p>
            <a:pPr algn="ctr">
              <a:lnSpc>
                <a:spcPts val="6299"/>
              </a:lnSpc>
              <a:spcBef>
                <a:spcPct val="0"/>
              </a:spcBef>
            </a:pPr>
            <a:r>
              <a:rPr lang="en-US" b="true" sz="4499">
                <a:solidFill>
                  <a:srgbClr val="000000"/>
                </a:solidFill>
                <a:latin typeface="Noto Sans Bold"/>
                <a:ea typeface="Noto Sans Bold"/>
                <a:cs typeface="Noto Sans Bold"/>
                <a:sym typeface="Noto Sans Bold"/>
              </a:rPr>
              <a:t>Thank</a:t>
            </a:r>
            <a:r>
              <a:rPr lang="en-US" b="true" sz="4499">
                <a:solidFill>
                  <a:srgbClr val="000000"/>
                </a:solidFill>
                <a:latin typeface="Noto Sans Bold"/>
                <a:ea typeface="Noto Sans Bold"/>
                <a:cs typeface="Noto Sans Bold"/>
                <a:sym typeface="Noto Sans Bold"/>
              </a:rPr>
              <a:t> You For Listening !</a:t>
            </a:r>
          </a:p>
          <a:p>
            <a:pPr algn="ctr">
              <a:lnSpc>
                <a:spcPts val="6299"/>
              </a:lnSpc>
              <a:spcBef>
                <a:spcPct val="0"/>
              </a:spcBef>
            </a:pPr>
          </a:p>
        </p:txBody>
      </p:sp>
      <p:sp>
        <p:nvSpPr>
          <p:cNvPr name="TextBox 3" id="3"/>
          <p:cNvSpPr txBox="true"/>
          <p:nvPr/>
        </p:nvSpPr>
        <p:spPr>
          <a:xfrm rot="0">
            <a:off x="7544709" y="4530886"/>
            <a:ext cx="2928461" cy="1450976"/>
          </a:xfrm>
          <a:prstGeom prst="rect">
            <a:avLst/>
          </a:prstGeom>
        </p:spPr>
        <p:txBody>
          <a:bodyPr anchor="t" rtlCol="false" tIns="0" lIns="0" bIns="0" rIns="0">
            <a:spAutoFit/>
          </a:bodyPr>
          <a:lstStyle/>
          <a:p>
            <a:pPr algn="ctr">
              <a:lnSpc>
                <a:spcPts val="11899"/>
              </a:lnSpc>
              <a:spcBef>
                <a:spcPct val="0"/>
              </a:spcBef>
            </a:pPr>
            <a:r>
              <a:rPr lang="en-US" b="true" sz="8499">
                <a:solidFill>
                  <a:srgbClr val="000000"/>
                </a:solidFill>
                <a:latin typeface="Noto Sans Bold"/>
                <a:ea typeface="Noto Sans Bold"/>
                <a:cs typeface="Noto Sans Bold"/>
                <a:sym typeface="Noto Sans Bold"/>
              </a:rPr>
              <a:t>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DAG7KaT_sfE</dc:identifier>
  <dcterms:modified xsi:type="dcterms:W3CDTF">2011-08-01T06:04:30Z</dcterms:modified>
  <cp:revision>1</cp:revision>
  <dc:title>ML</dc:title>
</cp:coreProperties>
</file>